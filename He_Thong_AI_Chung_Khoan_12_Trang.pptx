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C57"/>
          </a:solidFill>
          <a:ln>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4389120"/>
          </a:xfrm>
          <a:prstGeom prst="rect">
            <a:avLst/>
          </a:prstGeom>
          <a:noFill/>
        </p:spPr>
        <p:txBody>
          <a:bodyPr wrap="square">
            <a:spAutoFit/>
          </a:bodyPr>
          <a:lstStyle/>
          <a:p>
            <a:pPr>
              <a:defRPr sz="1300" b="1">
                <a:solidFill>
                  <a:srgbClr val="35A29F"/>
                </a:solidFill>
              </a:defRPr>
            </a:pPr>
            <a:r>
              <a:t>BÁO CÁO NGHIÊN CỨU &amp; KIỂM ĐỊNH THUẬT TOÁN ĐỊNH LƯỢNG (AI QUANT)</a:t>
            </a:r>
          </a:p>
          <a:p>
            <a:pPr>
              <a:spcAft>
                <a:spcPts val="1600"/>
              </a:spcAft>
              <a:defRPr sz="3600" b="1">
                <a:solidFill>
                  <a:srgbClr val="FFFFFF"/>
                </a:solidFill>
              </a:defRPr>
            </a:pPr>
            <a:r>
              <a:t>Hệ Thống Giao Dịch Chứng Khoán</a:t>
            </a:r>
            <a:br/>
            <a:r>
              <a:t>Ứng Dụng Trí Tuệ Nhân Tạo Đa Tầng</a:t>
            </a:r>
          </a:p>
          <a:p>
            <a:pPr>
              <a:spcAft>
                <a:spcPts val="2500"/>
              </a:spcAft>
              <a:defRPr sz="1600">
                <a:solidFill>
                  <a:srgbClr val="DAE0E9"/>
                </a:solidFill>
              </a:defRPr>
            </a:pPr>
            <a:r>
              <a:t>Tích hợp Học tăng cường (PPO), Mạng Bayes (BNN), Đọc tin đa LLM và Lõi Quản trị Rủi ro Động</a:t>
            </a:r>
          </a:p>
          <a:p>
            <a:pPr>
              <a:spcAft>
                <a:spcPts val="1500"/>
              </a:spcAft>
              <a:defRPr sz="1100" b="1">
                <a:solidFill>
                  <a:srgbClr val="FFC107"/>
                </a:solidFill>
              </a:defRPr>
            </a:pPr>
            <a:r>
              <a:t>⚠️ ĐÂY LÀ DỰ ÁN NGHIÊN CỨU THỬ NGHIỆM (EXPERIMENTAL RESEARCH) • KHÔNG PHẢI LỜI KHUYÊN ĐẦU TƯ TÀI CHÍNH</a:t>
            </a:r>
          </a:p>
          <a:p>
            <a:pPr>
              <a:defRPr sz="1200">
                <a:solidFill>
                  <a:srgbClr val="ADB5BD"/>
                </a:solidFill>
              </a:defRPr>
            </a:pPr>
            <a:r>
              <a:t>Tác giả: Vương Đức Minh  |  Thị trường kiểm thử: Chứng khoán Việt Nam (VN30 &amp; Midcaps)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914400"/>
          </a:xfrm>
          <a:prstGeom prst="rect">
            <a:avLst/>
          </a:prstGeom>
          <a:noFill/>
        </p:spPr>
        <p:txBody>
          <a:bodyPr wrap="square" lIns="0" tIns="0" rIns="0" bIns="0">
            <a:spAutoFit/>
          </a:bodyPr>
          <a:lstStyle/>
          <a:p>
            <a:pPr>
              <a:defRPr sz="1100" b="1">
                <a:solidFill>
                  <a:srgbClr val="35A29F"/>
                </a:solidFill>
              </a:defRPr>
            </a:pPr>
            <a:r>
              <a:t>HỆ THỐNG GIAO DỊCH CHỨNG KHOÁN AI QUANT</a:t>
            </a:r>
          </a:p>
          <a:p>
            <a:pPr>
              <a:defRPr sz="2100" b="1">
                <a:solidFill>
                  <a:srgbClr val="102C57"/>
                </a:solidFill>
              </a:defRPr>
            </a:pPr>
            <a:r>
              <a:t>Tổng Quan Kiến Trúc Hệ Thống: Mô Hình 3 Tầng Khép Kín</a:t>
            </a:r>
          </a:p>
        </p:txBody>
      </p:sp>
      <p:sp>
        <p:nvSpPr>
          <p:cNvPr id="3" name="TextBox 2"/>
          <p:cNvSpPr txBox="1"/>
          <p:nvPr/>
        </p:nvSpPr>
        <p:spPr>
          <a:xfrm>
            <a:off x="731520" y="6309360"/>
            <a:ext cx="10728655" cy="365760"/>
          </a:xfrm>
          <a:prstGeom prst="rect">
            <a:avLst/>
          </a:prstGeom>
          <a:noFill/>
        </p:spPr>
        <p:txBody>
          <a:bodyPr wrap="none" lIns="0" tIns="0" rIns="0" bIns="0">
            <a:spAutoFit/>
          </a:bodyPr>
          <a:lstStyle/>
          <a:p>
            <a:pPr>
              <a:defRPr sz="950">
                <a:solidFill>
                  <a:srgbClr val="6C757D"/>
                </a:solidFill>
              </a:defRPr>
            </a:pPr>
            <a:r>
              <a:t>Dự án Thử nghiệm Nghiên cứu AI Quant | Tác giả: Vương Đức Minh | Trang 2/12</a:t>
            </a:r>
          </a:p>
        </p:txBody>
      </p:sp>
      <p:pic>
        <p:nvPicPr>
          <p:cNvPr id="4" name="Picture 3" descr="chart_architecture.png"/>
          <p:cNvPicPr>
            <a:picLocks noChangeAspect="1"/>
          </p:cNvPicPr>
          <p:nvPr/>
        </p:nvPicPr>
        <p:blipFill>
          <a:blip r:embed="rId2"/>
          <a:stretch>
            <a:fillRect/>
          </a:stretch>
        </p:blipFill>
        <p:spPr>
          <a:xfrm>
            <a:off x="731520" y="1371600"/>
            <a:ext cx="6583680" cy="4663440"/>
          </a:xfrm>
          <a:prstGeom prst="rect">
            <a:avLst/>
          </a:prstGeom>
        </p:spPr>
      </p:pic>
      <p:sp>
        <p:nvSpPr>
          <p:cNvPr id="5" name="Rounded Rectangle 4"/>
          <p:cNvSpPr/>
          <p:nvPr/>
        </p:nvSpPr>
        <p:spPr>
          <a:xfrm>
            <a:off x="7589520" y="1371600"/>
            <a:ext cx="3840480" cy="466344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1554480"/>
            <a:ext cx="3474720" cy="4297680"/>
          </a:xfrm>
          <a:prstGeom prst="rect">
            <a:avLst/>
          </a:prstGeom>
          <a:noFill/>
        </p:spPr>
        <p:txBody>
          <a:bodyPr wrap="square">
            <a:spAutoFit/>
          </a:bodyPr>
          <a:lstStyle/>
          <a:p>
            <a:pPr>
              <a:spcAft>
                <a:spcPts val="1200"/>
              </a:spcAft>
              <a:defRPr sz="1500" b="1">
                <a:solidFill>
                  <a:srgbClr val="102C57"/>
                </a:solidFill>
              </a:defRPr>
            </a:pPr>
            <a:r>
              <a:t>Triết Lý Thiết Kế 3 Tầng:</a:t>
            </a:r>
          </a:p>
          <a:p>
            <a:pPr>
              <a:defRPr sz="1200" b="1">
                <a:solidFill>
                  <a:srgbClr val="35A29F"/>
                </a:solidFill>
              </a:defRPr>
            </a:pPr>
            <a:r>
              <a:t>• Tầng 1: Data &amp; Feature Engine</a:t>
            </a:r>
          </a:p>
          <a:p>
            <a:pPr>
              <a:spcAft>
                <a:spcPts val="1000"/>
              </a:spcAft>
              <a:defRPr sz="1050">
                <a:solidFill>
                  <a:srgbClr val="212529"/>
                </a:solidFill>
              </a:defRPr>
            </a:pPr>
            <a:r>
              <a:t>Cào 125,000 dòng dữ liệu từ Yahoo Finance cho 50 mã VN. Tạo 8+ đặc trưng kỹ thuật, chu kỳ lãi suất vĩ mô và phân tích tin tức đa LLM.</a:t>
            </a:r>
          </a:p>
          <a:p>
            <a:pPr>
              <a:defRPr sz="1200" b="1">
                <a:solidFill>
                  <a:srgbClr val="35A29F"/>
                </a:solidFill>
              </a:defRPr>
            </a:pPr>
            <a:r>
              <a:t>• Tầng 2: Não Bộ AI Ra Quyết Định</a:t>
            </a:r>
          </a:p>
          <a:p>
            <a:pPr>
              <a:spcAft>
                <a:spcPts val="1000"/>
              </a:spcAft>
              <a:defRPr sz="1050">
                <a:solidFill>
                  <a:srgbClr val="212529"/>
                </a:solidFill>
              </a:defRPr>
            </a:pPr>
            <a:r>
              <a:t>PPO Reinforcement Learning học tự động mua/bán trong môi trường Gym. Kết hợp mạng Bayes (BNN) đo phương sai để triệt tiêu bệnh tự tin thái quá.</a:t>
            </a:r>
          </a:p>
          <a:p>
            <a:pPr>
              <a:defRPr sz="1200" b="1">
                <a:solidFill>
                  <a:srgbClr val="35A29F"/>
                </a:solidFill>
              </a:defRPr>
            </a:pPr>
            <a:r>
              <a:t>• Tầng 3: Lõi Quản Trị Rủi Ro &amp; Thực Thi</a:t>
            </a:r>
          </a:p>
          <a:p>
            <a:pPr>
              <a:spcAft>
                <a:spcPts val="1000"/>
              </a:spcAft>
              <a:defRPr sz="1050">
                <a:solidFill>
                  <a:srgbClr val="212529"/>
                </a:solidFill>
              </a:defRPr>
            </a:pPr>
            <a:r>
              <a:t>Màng lọc Expected Value, trừ phí 2 chiều, cầu dao ngắt mạch cắt lỗ cứng (-7%) và giao diện Web/Desktop phục vụ giám sát.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914400"/>
          </a:xfrm>
          <a:prstGeom prst="rect">
            <a:avLst/>
          </a:prstGeom>
          <a:noFill/>
        </p:spPr>
        <p:txBody>
          <a:bodyPr wrap="square" lIns="0" tIns="0" rIns="0" bIns="0">
            <a:spAutoFit/>
          </a:bodyPr>
          <a:lstStyle/>
          <a:p>
            <a:pPr>
              <a:defRPr sz="1100" b="1">
                <a:solidFill>
                  <a:srgbClr val="35A29F"/>
                </a:solidFill>
              </a:defRPr>
            </a:pPr>
            <a:r>
              <a:t>HỆ THỐNG GIAO DỊCH CHỨNG KHOÁN AI QUANT</a:t>
            </a:r>
          </a:p>
          <a:p>
            <a:pPr>
              <a:defRPr sz="2100" b="1">
                <a:solidFill>
                  <a:srgbClr val="102C57"/>
                </a:solidFill>
              </a:defRPr>
            </a:pPr>
            <a:r>
              <a:t>Bước 1: Thu Thập &amp; Kỹ Thuật Đặc Trưng Dữ Liệu (Step 1)</a:t>
            </a:r>
          </a:p>
        </p:txBody>
      </p:sp>
      <p:sp>
        <p:nvSpPr>
          <p:cNvPr id="3" name="TextBox 2"/>
          <p:cNvSpPr txBox="1"/>
          <p:nvPr/>
        </p:nvSpPr>
        <p:spPr>
          <a:xfrm>
            <a:off x="731520" y="6309360"/>
            <a:ext cx="10728655" cy="365760"/>
          </a:xfrm>
          <a:prstGeom prst="rect">
            <a:avLst/>
          </a:prstGeom>
          <a:noFill/>
        </p:spPr>
        <p:txBody>
          <a:bodyPr wrap="none" lIns="0" tIns="0" rIns="0" bIns="0">
            <a:spAutoFit/>
          </a:bodyPr>
          <a:lstStyle/>
          <a:p>
            <a:pPr>
              <a:defRPr sz="950">
                <a:solidFill>
                  <a:srgbClr val="6C757D"/>
                </a:solidFill>
              </a:defRPr>
            </a:pPr>
            <a:r>
              <a:t>Dự án Thử nghiệm Nghiên cứu AI Quant | Tác giả: Vương Đức Minh | Trang 3/12</a:t>
            </a:r>
          </a:p>
        </p:txBody>
      </p:sp>
      <p:sp>
        <p:nvSpPr>
          <p:cNvPr id="4" name="Rounded Rectangle 3"/>
          <p:cNvSpPr/>
          <p:nvPr/>
        </p:nvSpPr>
        <p:spPr>
          <a:xfrm>
            <a:off x="731520" y="1371600"/>
            <a:ext cx="3383280" cy="210312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017520" cy="1737360"/>
          </a:xfrm>
          <a:prstGeom prst="rect">
            <a:avLst/>
          </a:prstGeom>
          <a:noFill/>
        </p:spPr>
        <p:txBody>
          <a:bodyPr wrap="square">
            <a:spAutoFit/>
          </a:bodyPr>
          <a:lstStyle/>
          <a:p>
            <a:pPr>
              <a:spcAft>
                <a:spcPts val="600"/>
              </a:spcAft>
              <a:defRPr sz="1300" b="1">
                <a:solidFill>
                  <a:srgbClr val="102C57"/>
                </a:solidFill>
              </a:defRPr>
            </a:pPr>
            <a:r>
              <a:t>50 Mã Cổ Phiếu Lớn</a:t>
            </a:r>
          </a:p>
          <a:p>
            <a:pPr>
              <a:defRPr sz="1050">
                <a:solidFill>
                  <a:srgbClr val="212529"/>
                </a:solidFill>
              </a:defRPr>
            </a:pPr>
            <a:r>
              <a:t>Bao phủ toàn bộ nhóm VN30 (FPT, VNM, VIC, VHM, HPG, SSI, VCB...) và Top Midcaps tiềm năng (DIG, DXG, PDR, VCI...).</a:t>
            </a:r>
          </a:p>
        </p:txBody>
      </p:sp>
      <p:sp>
        <p:nvSpPr>
          <p:cNvPr id="6" name="Rounded Rectangle 5"/>
          <p:cNvSpPr/>
          <p:nvPr/>
        </p:nvSpPr>
        <p:spPr>
          <a:xfrm>
            <a:off x="4389120" y="1371600"/>
            <a:ext cx="3383280" cy="210312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54480"/>
            <a:ext cx="3017520" cy="1737360"/>
          </a:xfrm>
          <a:prstGeom prst="rect">
            <a:avLst/>
          </a:prstGeom>
          <a:noFill/>
        </p:spPr>
        <p:txBody>
          <a:bodyPr wrap="square">
            <a:spAutoFit/>
          </a:bodyPr>
          <a:lstStyle/>
          <a:p>
            <a:pPr>
              <a:spcAft>
                <a:spcPts val="600"/>
              </a:spcAft>
              <a:defRPr sz="1300" b="1">
                <a:solidFill>
                  <a:srgbClr val="35A29F"/>
                </a:solidFill>
              </a:defRPr>
            </a:pPr>
            <a:r>
              <a:t>10 Năm Lịch Sử (~125k Mẫu)</a:t>
            </a:r>
          </a:p>
          <a:p>
            <a:pPr>
              <a:defRPr sz="1050">
                <a:solidFill>
                  <a:srgbClr val="212529"/>
                </a:solidFill>
              </a:defRPr>
            </a:pPr>
            <a:r>
              <a:t>Dữ liệu giao dịch từ 2015 đến 2025. Đảm bảo trải qua đầy đủ chu kỳ: Uptrend, Downtrend, Đi ngang, Khủng hoảng.</a:t>
            </a:r>
          </a:p>
        </p:txBody>
      </p:sp>
      <p:sp>
        <p:nvSpPr>
          <p:cNvPr id="8" name="Rounded Rectangle 7"/>
          <p:cNvSpPr/>
          <p:nvPr/>
        </p:nvSpPr>
        <p:spPr>
          <a:xfrm>
            <a:off x="8046720" y="1371600"/>
            <a:ext cx="3383280" cy="210312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017520" cy="1737360"/>
          </a:xfrm>
          <a:prstGeom prst="rect">
            <a:avLst/>
          </a:prstGeom>
          <a:noFill/>
        </p:spPr>
        <p:txBody>
          <a:bodyPr wrap="square">
            <a:spAutoFit/>
          </a:bodyPr>
          <a:lstStyle/>
          <a:p>
            <a:pPr>
              <a:spcAft>
                <a:spcPts val="600"/>
              </a:spcAft>
              <a:defRPr sz="1300" b="1">
                <a:solidFill>
                  <a:srgbClr val="102C57"/>
                </a:solidFill>
              </a:defRPr>
            </a:pPr>
            <a:r>
              <a:t>Vector 8 Chiều Chuẩn Hóa</a:t>
            </a:r>
          </a:p>
          <a:p>
            <a:pPr>
              <a:defRPr sz="1050">
                <a:solidFill>
                  <a:srgbClr val="212529"/>
                </a:solidFill>
              </a:defRPr>
            </a:pPr>
            <a:r>
              <a:t>Observation Space = [Tiền mặt, Cổ phiếu] + [Close, RSI, MACD, OBV, ATR, Macro_IR, Foreign_Flow, News_Sentiment].</a:t>
            </a:r>
          </a:p>
        </p:txBody>
      </p:sp>
      <p:sp>
        <p:nvSpPr>
          <p:cNvPr id="10" name="Rounded Rectangle 9"/>
          <p:cNvSpPr/>
          <p:nvPr/>
        </p:nvSpPr>
        <p:spPr>
          <a:xfrm>
            <a:off x="731520" y="3749039"/>
            <a:ext cx="10728655" cy="2286000"/>
          </a:xfrm>
          <a:prstGeom prst="roundRect">
            <a:avLst/>
          </a:prstGeom>
          <a:solidFill>
            <a:srgbClr val="FFFFFF"/>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931920"/>
            <a:ext cx="10149840" cy="1920240"/>
          </a:xfrm>
          <a:prstGeom prst="rect">
            <a:avLst/>
          </a:prstGeom>
          <a:noFill/>
        </p:spPr>
        <p:txBody>
          <a:bodyPr wrap="square">
            <a:spAutoFit/>
          </a:bodyPr>
          <a:lstStyle/>
          <a:p>
            <a:pPr>
              <a:spcAft>
                <a:spcPts val="600"/>
              </a:spcAft>
              <a:defRPr sz="1300" b="1">
                <a:solidFill>
                  <a:srgbClr val="102C57"/>
                </a:solidFill>
              </a:defRPr>
            </a:pPr>
            <a:r>
              <a:t>Chi Tiết Thuật Toán Kỹ Thuật Đặc Trưng (Feature Engineering):</a:t>
            </a:r>
          </a:p>
          <a:p>
            <a:pPr>
              <a:spcAft>
                <a:spcPts val="400"/>
              </a:spcAft>
              <a:defRPr sz="1050">
                <a:solidFill>
                  <a:srgbClr val="212529"/>
                </a:solidFill>
              </a:defRPr>
            </a:pPr>
            <a:r>
              <a:t>• Chỉ báo Động lượng &amp; Xu hướng: RSI(14) xác định vùng quá mua/quá bán; MACD Diff bắt điểm đảo chiều; OBV phát hiện dòng tiền gom hàng; ATR(14) đo biên độ co giãn giá thực tế.</a:t>
            </a:r>
          </a:p>
          <a:p>
            <a:pPr>
              <a:spcAft>
                <a:spcPts val="400"/>
              </a:spcAft>
              <a:defRPr sz="1050">
                <a:solidFill>
                  <a:srgbClr val="212529"/>
                </a:solidFill>
              </a:defRPr>
            </a:pPr>
            <a:r>
              <a:t>• Dữ liệu Vĩ mô Giả lập (Macro_IR): Lãi suất điều hành chu kỳ hình sin từ 3% - 7%, mô phỏng sự dịch chuyển dòng tiền giữa kênh gửi tiết kiệm và chứng khoán.</a:t>
            </a:r>
          </a:p>
          <a:p>
            <a:pPr>
              <a:spcAft>
                <a:spcPts val="400"/>
              </a:spcAft>
              <a:defRPr sz="1050">
                <a:solidFill>
                  <a:srgbClr val="212529"/>
                </a:solidFill>
              </a:defRPr>
            </a:pPr>
            <a:r>
              <a:t>• Dòng tiền Khối ngoại (Foreign_Flow): Mô phỏng hoạt động mua/bán ròng của quỹ ngoại, có tính chu kỳ và độ nhiễu thực tế (Gaussian Noise).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914400"/>
          </a:xfrm>
          <a:prstGeom prst="rect">
            <a:avLst/>
          </a:prstGeom>
          <a:noFill/>
        </p:spPr>
        <p:txBody>
          <a:bodyPr wrap="square" lIns="0" tIns="0" rIns="0" bIns="0">
            <a:spAutoFit/>
          </a:bodyPr>
          <a:lstStyle/>
          <a:p>
            <a:pPr>
              <a:defRPr sz="1100" b="1">
                <a:solidFill>
                  <a:srgbClr val="35A29F"/>
                </a:solidFill>
              </a:defRPr>
            </a:pPr>
            <a:r>
              <a:t>HỆ THỐNG GIAO DỊCH CHỨNG KHOÁN AI QUANT</a:t>
            </a:r>
          </a:p>
          <a:p>
            <a:pPr>
              <a:defRPr sz="2100" b="1">
                <a:solidFill>
                  <a:srgbClr val="102C57"/>
                </a:solidFill>
              </a:defRPr>
            </a:pPr>
            <a:r>
              <a:t>Bước 2: Động Cơ Phân Tích Cảm Xúc Đa Trí Tuệ Nhân Tạo (Step 2)</a:t>
            </a:r>
          </a:p>
        </p:txBody>
      </p:sp>
      <p:sp>
        <p:nvSpPr>
          <p:cNvPr id="3" name="TextBox 2"/>
          <p:cNvSpPr txBox="1"/>
          <p:nvPr/>
        </p:nvSpPr>
        <p:spPr>
          <a:xfrm>
            <a:off x="731520" y="6309360"/>
            <a:ext cx="10728655" cy="365760"/>
          </a:xfrm>
          <a:prstGeom prst="rect">
            <a:avLst/>
          </a:prstGeom>
          <a:noFill/>
        </p:spPr>
        <p:txBody>
          <a:bodyPr wrap="none" lIns="0" tIns="0" rIns="0" bIns="0">
            <a:spAutoFit/>
          </a:bodyPr>
          <a:lstStyle/>
          <a:p>
            <a:pPr>
              <a:defRPr sz="950">
                <a:solidFill>
                  <a:srgbClr val="6C757D"/>
                </a:solidFill>
              </a:defRPr>
            </a:pPr>
            <a:r>
              <a:t>Dự án Thử nghiệm Nghiên cứu AI Quant | Tác giả: Vương Đức Minh | Trang 4/12</a:t>
            </a:r>
          </a:p>
        </p:txBody>
      </p:sp>
      <p:sp>
        <p:nvSpPr>
          <p:cNvPr id="4" name="Rounded Rectangle 3"/>
          <p:cNvSpPr/>
          <p:nvPr/>
        </p:nvSpPr>
        <p:spPr>
          <a:xfrm>
            <a:off x="731520" y="1371600"/>
            <a:ext cx="5120640" cy="466344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297680"/>
          </a:xfrm>
          <a:prstGeom prst="rect">
            <a:avLst/>
          </a:prstGeom>
          <a:noFill/>
        </p:spPr>
        <p:txBody>
          <a:bodyPr wrap="square">
            <a:spAutoFit/>
          </a:bodyPr>
          <a:lstStyle/>
          <a:p>
            <a:pPr>
              <a:spcAft>
                <a:spcPts val="1000"/>
              </a:spcAft>
              <a:defRPr sz="1400" b="1">
                <a:solidFill>
                  <a:srgbClr val="102C57"/>
                </a:solidFill>
              </a:defRPr>
            </a:pPr>
            <a:r>
              <a:t>Hệ Thống 3 LLMs Đồng Thuận (Ensemble):</a:t>
            </a:r>
          </a:p>
          <a:p>
            <a:pPr>
              <a:defRPr sz="1150" b="1">
                <a:solidFill>
                  <a:srgbClr val="35A29F"/>
                </a:solidFill>
              </a:defRPr>
            </a:pPr>
            <a:r>
              <a:t>• Gemini Pro (Google):</a:t>
            </a:r>
          </a:p>
          <a:p>
            <a:pPr>
              <a:spcAft>
                <a:spcPts val="600"/>
              </a:spcAft>
              <a:defRPr sz="1000">
                <a:solidFill>
                  <a:srgbClr val="212529"/>
                </a:solidFill>
              </a:defRPr>
            </a:pPr>
            <a:r>
              <a:t>Thế mạnh đọc hiểu ngữ cảnh tài chính dài, phân tích báo cáo tài chính và sự kiện vĩ mô.</a:t>
            </a:r>
          </a:p>
          <a:p>
            <a:pPr>
              <a:defRPr sz="1150" b="1">
                <a:solidFill>
                  <a:srgbClr val="35A29F"/>
                </a:solidFill>
              </a:defRPr>
            </a:pPr>
            <a:r>
              <a:t>• GPT-4 (OpenAI):</a:t>
            </a:r>
          </a:p>
          <a:p>
            <a:pPr>
              <a:spcAft>
                <a:spcPts val="600"/>
              </a:spcAft>
              <a:defRPr sz="1000">
                <a:solidFill>
                  <a:srgbClr val="212529"/>
                </a:solidFill>
              </a:defRPr>
            </a:pPr>
            <a:r>
              <a:t>Khả năng suy luận logic chuyên sâu, bắt bài các luận điểm tinh vi của doanh nghiệp.</a:t>
            </a:r>
          </a:p>
          <a:p>
            <a:pPr>
              <a:defRPr sz="1150" b="1">
                <a:solidFill>
                  <a:srgbClr val="35A29F"/>
                </a:solidFill>
              </a:defRPr>
            </a:pPr>
            <a:r>
              <a:t>• Claude Opus (Anthropic):</a:t>
            </a:r>
          </a:p>
          <a:p>
            <a:pPr>
              <a:spcAft>
                <a:spcPts val="600"/>
              </a:spcAft>
              <a:defRPr sz="1000">
                <a:solidFill>
                  <a:srgbClr val="212529"/>
                </a:solidFill>
              </a:defRPr>
            </a:pPr>
            <a:r>
              <a:t>Kiểm duyệt khách quan, triệt tiêu ảo giác (hallucination) và hạn chế cảm xúc quá đà.</a:t>
            </a:r>
          </a:p>
          <a:p>
            <a:pPr>
              <a:defRPr sz="1150" b="1">
                <a:solidFill>
                  <a:srgbClr val="35A29F"/>
                </a:solidFill>
              </a:defRPr>
            </a:pPr>
            <a:r>
              <a:t>• Cơ chế Lấy Trung Bình:</a:t>
            </a:r>
          </a:p>
          <a:p>
            <a:pPr>
              <a:spcAft>
                <a:spcPts val="600"/>
              </a:spcAft>
              <a:defRPr sz="1000">
                <a:solidFill>
                  <a:srgbClr val="212529"/>
                </a:solidFill>
              </a:defRPr>
            </a:pPr>
            <a:r>
              <a:t>Điểm cuối cùng = Mean(3 LLMs). Khi 1 model bị sai lệch, 2 model còn lại sẽ kéo về cân bằng.</a:t>
            </a:r>
          </a:p>
        </p:txBody>
      </p:sp>
      <p:sp>
        <p:nvSpPr>
          <p:cNvPr id="6" name="Rounded Rectangle 5"/>
          <p:cNvSpPr/>
          <p:nvPr/>
        </p:nvSpPr>
        <p:spPr>
          <a:xfrm>
            <a:off x="6126480" y="1371600"/>
            <a:ext cx="5303520" cy="4663440"/>
          </a:xfrm>
          <a:prstGeom prst="roundRect">
            <a:avLst/>
          </a:prstGeom>
          <a:solidFill>
            <a:srgbClr val="FFFFFF"/>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554480"/>
            <a:ext cx="4937760" cy="4297680"/>
          </a:xfrm>
          <a:prstGeom prst="rect">
            <a:avLst/>
          </a:prstGeom>
          <a:noFill/>
        </p:spPr>
        <p:txBody>
          <a:bodyPr wrap="square">
            <a:spAutoFit/>
          </a:bodyPr>
          <a:lstStyle/>
          <a:p>
            <a:pPr>
              <a:spcAft>
                <a:spcPts val="1000"/>
              </a:spcAft>
              <a:defRPr sz="1400" b="1">
                <a:solidFill>
                  <a:srgbClr val="102C57"/>
                </a:solidFill>
              </a:defRPr>
            </a:pPr>
            <a:r>
              <a:t>Trọng Số Báo Chí &amp; Xử Lý Ngày Trắng Tin:</a:t>
            </a:r>
          </a:p>
          <a:p>
            <a:pPr>
              <a:defRPr sz="1150" b="1">
                <a:solidFill>
                  <a:srgbClr val="102C57"/>
                </a:solidFill>
              </a:defRPr>
            </a:pPr>
            <a:r>
              <a:t>• Báo Chính Thống (Tier 1) - Trọng số 65%:</a:t>
            </a:r>
          </a:p>
          <a:p>
            <a:pPr>
              <a:spcAft>
                <a:spcPts val="800"/>
              </a:spcAft>
              <a:defRPr sz="1000">
                <a:solidFill>
                  <a:srgbClr val="212529"/>
                </a:solidFill>
              </a:defRPr>
            </a:pPr>
            <a:r>
              <a:t>CafeF, Vietstock, NDH, Bloomberg, Báo cáo UBCK. Đây là nguồn dữ liệu chuẩn mực, ít giật tít, chiếm tỷ trọng quyết định.</a:t>
            </a:r>
          </a:p>
          <a:p>
            <a:pPr>
              <a:defRPr sz="1150" b="1">
                <a:solidFill>
                  <a:srgbClr val="102C57"/>
                </a:solidFill>
              </a:defRPr>
            </a:pPr>
            <a:r>
              <a:t>• Diễn Đàn &amp; Mạng Xã Hội (Tier 2) - Trọng số 35%:</a:t>
            </a:r>
          </a:p>
          <a:p>
            <a:pPr>
              <a:spcAft>
                <a:spcPts val="800"/>
              </a:spcAft>
              <a:defRPr sz="1000">
                <a:solidFill>
                  <a:srgbClr val="212529"/>
                </a:solidFill>
              </a:defRPr>
            </a:pPr>
            <a:r>
              <a:t>Nhóm Facebook, Telegram, F247, Twitter. Chứa tâm lý đám đông (Fomo/Fud) nhưng độ nhiễu cực cao, chỉ dùng làm tham chiếu phụ.</a:t>
            </a:r>
          </a:p>
          <a:p>
            <a:pPr>
              <a:defRPr sz="1150" b="1">
                <a:solidFill>
                  <a:srgbClr val="102C57"/>
                </a:solidFill>
              </a:defRPr>
            </a:pPr>
            <a:r>
              <a:t>• Giải Quyết Ngày Không Có Tin (Zero-News Problem):</a:t>
            </a:r>
          </a:p>
          <a:p>
            <a:pPr>
              <a:spcAft>
                <a:spcPts val="800"/>
              </a:spcAft>
              <a:defRPr sz="1000">
                <a:solidFill>
                  <a:srgbClr val="212529"/>
                </a:solidFill>
              </a:defRPr>
            </a:pPr>
            <a:r>
              <a:t>Khi doanh nghiệp không có sự kiện nào trong ngày, hệ thống tự động gán điểm Trung Lập = 0.5. Tuyệt đối không phạt hay thiên vị cổ phiếu!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914400"/>
          </a:xfrm>
          <a:prstGeom prst="rect">
            <a:avLst/>
          </a:prstGeom>
          <a:noFill/>
        </p:spPr>
        <p:txBody>
          <a:bodyPr wrap="square" lIns="0" tIns="0" rIns="0" bIns="0">
            <a:spAutoFit/>
          </a:bodyPr>
          <a:lstStyle/>
          <a:p>
            <a:pPr>
              <a:defRPr sz="1100" b="1">
                <a:solidFill>
                  <a:srgbClr val="35A29F"/>
                </a:solidFill>
              </a:defRPr>
            </a:pPr>
            <a:r>
              <a:t>HỆ THỐNG GIAO DỊCH CHỨNG KHOÁN AI QUANT</a:t>
            </a:r>
          </a:p>
          <a:p>
            <a:pPr>
              <a:defRPr sz="2100" b="1">
                <a:solidFill>
                  <a:srgbClr val="102C57"/>
                </a:solidFill>
              </a:defRPr>
            </a:pPr>
            <a:r>
              <a:t>Bước 3: Mạng Thần Kinh Bayes (BNN) - Trị Bệnh Tự Tin Thái Quá</a:t>
            </a:r>
          </a:p>
        </p:txBody>
      </p:sp>
      <p:sp>
        <p:nvSpPr>
          <p:cNvPr id="3" name="TextBox 2"/>
          <p:cNvSpPr txBox="1"/>
          <p:nvPr/>
        </p:nvSpPr>
        <p:spPr>
          <a:xfrm>
            <a:off x="731520" y="6309360"/>
            <a:ext cx="10728655" cy="365760"/>
          </a:xfrm>
          <a:prstGeom prst="rect">
            <a:avLst/>
          </a:prstGeom>
          <a:noFill/>
        </p:spPr>
        <p:txBody>
          <a:bodyPr wrap="none" lIns="0" tIns="0" rIns="0" bIns="0">
            <a:spAutoFit/>
          </a:bodyPr>
          <a:lstStyle/>
          <a:p>
            <a:pPr>
              <a:defRPr sz="950">
                <a:solidFill>
                  <a:srgbClr val="6C757D"/>
                </a:solidFill>
              </a:defRPr>
            </a:pPr>
            <a:r>
              <a:t>Dự án Thử nghiệm Nghiên cứu AI Quant | Tác giả: Vương Đức Minh | Trang 5/12</a:t>
            </a:r>
          </a:p>
        </p:txBody>
      </p:sp>
      <p:pic>
        <p:nvPicPr>
          <p:cNvPr id="4" name="Picture 3" descr="chart_bnn.png"/>
          <p:cNvPicPr>
            <a:picLocks noChangeAspect="1"/>
          </p:cNvPicPr>
          <p:nvPr/>
        </p:nvPicPr>
        <p:blipFill>
          <a:blip r:embed="rId2"/>
          <a:stretch>
            <a:fillRect/>
          </a:stretch>
        </p:blipFill>
        <p:spPr>
          <a:xfrm>
            <a:off x="731520" y="1371600"/>
            <a:ext cx="6217920" cy="4663440"/>
          </a:xfrm>
          <a:prstGeom prst="rect">
            <a:avLst/>
          </a:prstGeom>
        </p:spPr>
      </p:pic>
      <p:sp>
        <p:nvSpPr>
          <p:cNvPr id="5" name="Rounded Rectangle 4"/>
          <p:cNvSpPr/>
          <p:nvPr/>
        </p:nvSpPr>
        <p:spPr>
          <a:xfrm>
            <a:off x="7223760" y="1371600"/>
            <a:ext cx="4206240" cy="466344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554480"/>
            <a:ext cx="3840480" cy="4297680"/>
          </a:xfrm>
          <a:prstGeom prst="rect">
            <a:avLst/>
          </a:prstGeom>
          <a:noFill/>
        </p:spPr>
        <p:txBody>
          <a:bodyPr wrap="square">
            <a:spAutoFit/>
          </a:bodyPr>
          <a:lstStyle/>
          <a:p>
            <a:pPr>
              <a:spcAft>
                <a:spcPts val="1000"/>
              </a:spcAft>
              <a:defRPr sz="1400" b="1">
                <a:solidFill>
                  <a:srgbClr val="102C57"/>
                </a:solidFill>
              </a:defRPr>
            </a:pPr>
            <a:r>
              <a:t>Kỹ Thuật Monte Carlo Dropout:</a:t>
            </a:r>
          </a:p>
          <a:p>
            <a:pPr>
              <a:defRPr sz="1100" b="1">
                <a:solidFill>
                  <a:srgbClr val="35A29F"/>
                </a:solidFill>
              </a:defRPr>
            </a:pPr>
            <a:r>
              <a:t>• Bật Dropout khi Suy luận (Inference):</a:t>
            </a:r>
          </a:p>
          <a:p>
            <a:pPr>
              <a:spcAft>
                <a:spcPts val="600"/>
              </a:spcAft>
              <a:defRPr sz="980">
                <a:solidFill>
                  <a:srgbClr val="212529"/>
                </a:solidFill>
              </a:defRPr>
            </a:pPr>
            <a:r>
              <a:t>Thay vì tắt dropout như mạng AI thông thường, BNN kích hoạt Dropout (p=0.3) ngay trong lúc test để tạo ngẫu nhiên.</a:t>
            </a:r>
          </a:p>
          <a:p>
            <a:pPr>
              <a:defRPr sz="1100" b="1">
                <a:solidFill>
                  <a:srgbClr val="35A29F"/>
                </a:solidFill>
              </a:defRPr>
            </a:pPr>
            <a:r>
              <a:t>• 100 Lần Suy Luận / Bước Nến:</a:t>
            </a:r>
          </a:p>
          <a:p>
            <a:pPr>
              <a:spcAft>
                <a:spcPts val="600"/>
              </a:spcAft>
              <a:defRPr sz="980">
                <a:solidFill>
                  <a:srgbClr val="212529"/>
                </a:solidFill>
              </a:defRPr>
            </a:pPr>
            <a:r>
              <a:t>Mỗi bước ra quyết định, dữ liệu chạy qua mạng 100 lần để đo lường phân phối xác suất các phương án.</a:t>
            </a:r>
          </a:p>
          <a:p>
            <a:pPr>
              <a:defRPr sz="1100" b="1">
                <a:solidFill>
                  <a:srgbClr val="35A29F"/>
                </a:solidFill>
              </a:defRPr>
            </a:pPr>
            <a:r>
              <a:t>• Tính Phương Sai (Variance):</a:t>
            </a:r>
          </a:p>
          <a:p>
            <a:pPr>
              <a:spcAft>
                <a:spcPts val="600"/>
              </a:spcAft>
              <a:defRPr sz="980">
                <a:solidFill>
                  <a:srgbClr val="212529"/>
                </a:solidFill>
              </a:defRPr>
            </a:pPr>
            <a:r>
              <a:t>Variance đại diện cho mức độ bối rối của AI. Nếu các lần đoán đồng nhất ➔ Variance thấp ➔ AI chắc chắn.</a:t>
            </a:r>
          </a:p>
          <a:p>
            <a:pPr>
              <a:defRPr sz="1100" b="1">
                <a:solidFill>
                  <a:srgbClr val="35A29F"/>
                </a:solidFill>
              </a:defRPr>
            </a:pPr>
            <a:r>
              <a:t>• Ngưỡng Cắt Rủi Ro (Threshold = 0.5):</a:t>
            </a:r>
          </a:p>
          <a:p>
            <a:pPr>
              <a:spcAft>
                <a:spcPts val="600"/>
              </a:spcAft>
              <a:defRPr sz="980">
                <a:solidFill>
                  <a:srgbClr val="212529"/>
                </a:solidFill>
              </a:defRPr>
            </a:pPr>
            <a:r>
              <a:t>Nếu Variance &gt; 0.5 ➔ AI đang đoán mò! Cầu dao Bayes lập tức ép lệnh về HOLD, bảo vệ an toàn cho tài khoản.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914400"/>
          </a:xfrm>
          <a:prstGeom prst="rect">
            <a:avLst/>
          </a:prstGeom>
          <a:noFill/>
        </p:spPr>
        <p:txBody>
          <a:bodyPr wrap="square" lIns="0" tIns="0" rIns="0" bIns="0">
            <a:spAutoFit/>
          </a:bodyPr>
          <a:lstStyle/>
          <a:p>
            <a:pPr>
              <a:defRPr sz="1100" b="1">
                <a:solidFill>
                  <a:srgbClr val="35A29F"/>
                </a:solidFill>
              </a:defRPr>
            </a:pPr>
            <a:r>
              <a:t>HỆ THỐNG GIAO DỊCH CHỨNG KHOÁN AI QUANT</a:t>
            </a:r>
          </a:p>
          <a:p>
            <a:pPr>
              <a:defRPr sz="2100" b="1">
                <a:solidFill>
                  <a:srgbClr val="102C57"/>
                </a:solidFill>
              </a:defRPr>
            </a:pPr>
            <a:r>
              <a:t>Bước 4: Lõi Quản Trị Rủi Ro &amp; Lý Thuyết Trò Chơi (Step 4)</a:t>
            </a:r>
          </a:p>
        </p:txBody>
      </p:sp>
      <p:sp>
        <p:nvSpPr>
          <p:cNvPr id="3" name="TextBox 2"/>
          <p:cNvSpPr txBox="1"/>
          <p:nvPr/>
        </p:nvSpPr>
        <p:spPr>
          <a:xfrm>
            <a:off x="731520" y="6309360"/>
            <a:ext cx="10728655" cy="365760"/>
          </a:xfrm>
          <a:prstGeom prst="rect">
            <a:avLst/>
          </a:prstGeom>
          <a:noFill/>
        </p:spPr>
        <p:txBody>
          <a:bodyPr wrap="none" lIns="0" tIns="0" rIns="0" bIns="0">
            <a:spAutoFit/>
          </a:bodyPr>
          <a:lstStyle/>
          <a:p>
            <a:pPr>
              <a:defRPr sz="950">
                <a:solidFill>
                  <a:srgbClr val="6C757D"/>
                </a:solidFill>
              </a:defRPr>
            </a:pPr>
            <a:r>
              <a:t>Dự án Thử nghiệm Nghiên cứu AI Quant | Tác giả: Vương Đức Minh | Trang 6/12</a:t>
            </a:r>
          </a:p>
        </p:txBody>
      </p:sp>
      <p:sp>
        <p:nvSpPr>
          <p:cNvPr id="4" name="Rounded Rectangle 3"/>
          <p:cNvSpPr/>
          <p:nvPr/>
        </p:nvSpPr>
        <p:spPr>
          <a:xfrm>
            <a:off x="731520" y="1371600"/>
            <a:ext cx="3383280" cy="466344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017520" cy="4297680"/>
          </a:xfrm>
          <a:prstGeom prst="rect">
            <a:avLst/>
          </a:prstGeom>
          <a:noFill/>
        </p:spPr>
        <p:txBody>
          <a:bodyPr wrap="square">
            <a:spAutoFit/>
          </a:bodyPr>
          <a:lstStyle/>
          <a:p>
            <a:pPr>
              <a:spcAft>
                <a:spcPts val="1000"/>
              </a:spcAft>
              <a:defRPr sz="1300" b="1">
                <a:solidFill>
                  <a:srgbClr val="102C57"/>
                </a:solidFill>
              </a:defRPr>
            </a:pPr>
            <a:r>
              <a:t>Luật 2 Triệu &amp; 20% NAV</a:t>
            </a:r>
          </a:p>
          <a:p>
            <a:pPr>
              <a:spcAft>
                <a:spcPts val="800"/>
              </a:spcAft>
              <a:defRPr sz="1000">
                <a:solidFill>
                  <a:srgbClr val="212529"/>
                </a:solidFill>
              </a:defRPr>
            </a:pPr>
            <a:r>
              <a:t>• Dưới 2.000.000 VNĐ: Ngân sách lướt sóng = 0. Khóa tính năng giao dịch rủi ro, ưu tiên bảo toàn vốn nhỏ.</a:t>
            </a:r>
          </a:p>
          <a:p>
            <a:pPr>
              <a:spcAft>
                <a:spcPts val="800"/>
              </a:spcAft>
              <a:defRPr sz="1000">
                <a:solidFill>
                  <a:srgbClr val="212529"/>
                </a:solidFill>
              </a:defRPr>
            </a:pPr>
            <a:r>
              <a:t>• Trên 2.000.000 VNĐ: Chỉ được trích tối đa 20% tổng tài sản để lướt sóng ngắn hạn.</a:t>
            </a:r>
          </a:p>
          <a:p>
            <a:pPr>
              <a:spcAft>
                <a:spcPts val="800"/>
              </a:spcAft>
              <a:defRPr sz="1000">
                <a:solidFill>
                  <a:srgbClr val="212529"/>
                </a:solidFill>
              </a:defRPr>
            </a:pPr>
            <a:r>
              <a:t>• 80% tài sản còn lại giữ tiền mặt hoặc tích sản an toàn.</a:t>
            </a:r>
          </a:p>
        </p:txBody>
      </p:sp>
      <p:sp>
        <p:nvSpPr>
          <p:cNvPr id="6" name="Rounded Rectangle 5"/>
          <p:cNvSpPr/>
          <p:nvPr/>
        </p:nvSpPr>
        <p:spPr>
          <a:xfrm>
            <a:off x="4389120" y="1371600"/>
            <a:ext cx="3383280" cy="466344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54480"/>
            <a:ext cx="3017520" cy="4297680"/>
          </a:xfrm>
          <a:prstGeom prst="rect">
            <a:avLst/>
          </a:prstGeom>
          <a:noFill/>
        </p:spPr>
        <p:txBody>
          <a:bodyPr wrap="square">
            <a:spAutoFit/>
          </a:bodyPr>
          <a:lstStyle/>
          <a:p>
            <a:pPr>
              <a:spcAft>
                <a:spcPts val="1000"/>
              </a:spcAft>
              <a:defRPr sz="1300" b="1">
                <a:solidFill>
                  <a:srgbClr val="35A29F"/>
                </a:solidFill>
              </a:defRPr>
            </a:pPr>
            <a:r>
              <a:t>Màng Lọc Expected Value (EV)</a:t>
            </a:r>
          </a:p>
          <a:p>
            <a:pPr>
              <a:spcAft>
                <a:spcPts val="800"/>
              </a:spcAft>
              <a:defRPr sz="1000">
                <a:solidFill>
                  <a:srgbClr val="212529"/>
                </a:solidFill>
              </a:defRPr>
            </a:pPr>
            <a:r>
              <a:t>• Trừ phí 2 chiều: 0.25% x 2 = 0.5% (Phí giao dịch + Thuế TNCN sàn Việt Nam).</a:t>
            </a:r>
          </a:p>
          <a:p>
            <a:pPr>
              <a:spcAft>
                <a:spcPts val="800"/>
              </a:spcAft>
              <a:defRPr sz="1000">
                <a:solidFill>
                  <a:srgbClr val="212529"/>
                </a:solidFill>
              </a:defRPr>
            </a:pPr>
            <a:r>
              <a:t>• Mức bù lạm phát tối thiểu: Lãi ròng sau phí phải &gt; 0.5% mới xem xét.</a:t>
            </a:r>
          </a:p>
          <a:p>
            <a:pPr>
              <a:spcAft>
                <a:spcPts val="800"/>
              </a:spcAft>
              <a:defRPr sz="1000">
                <a:solidFill>
                  <a:srgbClr val="212529"/>
                </a:solidFill>
              </a:defRPr>
            </a:pPr>
            <a:r>
              <a:t>• Kỳ vọng toán học: EV = (P_win x Lãi) - (P_loss x Lỗ). Chỉ giải ngân khi EV &gt; 0.</a:t>
            </a:r>
          </a:p>
        </p:txBody>
      </p:sp>
      <p:sp>
        <p:nvSpPr>
          <p:cNvPr id="8" name="Rounded Rectangle 7"/>
          <p:cNvSpPr/>
          <p:nvPr/>
        </p:nvSpPr>
        <p:spPr>
          <a:xfrm>
            <a:off x="8046720" y="1371600"/>
            <a:ext cx="3383280" cy="466344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017520" cy="4297680"/>
          </a:xfrm>
          <a:prstGeom prst="rect">
            <a:avLst/>
          </a:prstGeom>
          <a:noFill/>
        </p:spPr>
        <p:txBody>
          <a:bodyPr wrap="square">
            <a:spAutoFit/>
          </a:bodyPr>
          <a:lstStyle/>
          <a:p>
            <a:pPr>
              <a:spcAft>
                <a:spcPts val="1000"/>
              </a:spcAft>
              <a:defRPr sz="1300" b="1">
                <a:solidFill>
                  <a:srgbClr val="102C57"/>
                </a:solidFill>
              </a:defRPr>
            </a:pPr>
            <a:r>
              <a:t>Cắt Lỗ 2 Tầng Động</a:t>
            </a:r>
          </a:p>
          <a:p>
            <a:pPr>
              <a:spcAft>
                <a:spcPts val="800"/>
              </a:spcAft>
              <a:defRPr sz="1000">
                <a:solidFill>
                  <a:srgbClr val="212529"/>
                </a:solidFill>
              </a:defRPr>
            </a:pPr>
            <a:r>
              <a:t>• Cầu dao cứng (Hard Stop-loss): Âm -7% (chạm giá sàn HOSE) ➔ Thanh lý ngay lập tức!</a:t>
            </a:r>
          </a:p>
          <a:p>
            <a:pPr>
              <a:spcAft>
                <a:spcPts val="800"/>
              </a:spcAft>
              <a:defRPr sz="1000">
                <a:solidFill>
                  <a:srgbClr val="212529"/>
                </a:solidFill>
              </a:defRPr>
            </a:pPr>
            <a:r>
              <a:t>• Cắt lỗ động (Dynamic Stop-loss): Khi đang âm nhẹ (VD: -3%), tính toán lại EV hồi phục.</a:t>
            </a:r>
          </a:p>
          <a:p>
            <a:pPr>
              <a:spcAft>
                <a:spcPts val="800"/>
              </a:spcAft>
              <a:defRPr sz="1000">
                <a:solidFill>
                  <a:srgbClr val="212529"/>
                </a:solidFill>
              </a:defRPr>
            </a:pPr>
            <a:r>
              <a:t>• Nếu EV hồi phục dương ➔ Tiếp tục GIỮ; nếu EV đảo chiều âm ➔ CẮT LỖ SỚM.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914400"/>
          </a:xfrm>
          <a:prstGeom prst="rect">
            <a:avLst/>
          </a:prstGeom>
          <a:noFill/>
        </p:spPr>
        <p:txBody>
          <a:bodyPr wrap="square" lIns="0" tIns="0" rIns="0" bIns="0">
            <a:spAutoFit/>
          </a:bodyPr>
          <a:lstStyle/>
          <a:p>
            <a:pPr>
              <a:defRPr sz="1100" b="1">
                <a:solidFill>
                  <a:srgbClr val="35A29F"/>
                </a:solidFill>
              </a:defRPr>
            </a:pPr>
            <a:r>
              <a:t>HỆ THỐNG GIAO DỊCH CHỨNG KHOÁN AI QUANT</a:t>
            </a:r>
          </a:p>
          <a:p>
            <a:pPr>
              <a:defRPr sz="2100" b="1">
                <a:solidFill>
                  <a:srgbClr val="102C57"/>
                </a:solidFill>
              </a:defRPr>
            </a:pPr>
            <a:r>
              <a:t>Bước 5: Huấn Luyện AI Học Tăng Cường (PPO Agent)</a:t>
            </a:r>
          </a:p>
        </p:txBody>
      </p:sp>
      <p:sp>
        <p:nvSpPr>
          <p:cNvPr id="3" name="TextBox 2"/>
          <p:cNvSpPr txBox="1"/>
          <p:nvPr/>
        </p:nvSpPr>
        <p:spPr>
          <a:xfrm>
            <a:off x="731520" y="6309360"/>
            <a:ext cx="10728655" cy="365760"/>
          </a:xfrm>
          <a:prstGeom prst="rect">
            <a:avLst/>
          </a:prstGeom>
          <a:noFill/>
        </p:spPr>
        <p:txBody>
          <a:bodyPr wrap="none" lIns="0" tIns="0" rIns="0" bIns="0">
            <a:spAutoFit/>
          </a:bodyPr>
          <a:lstStyle/>
          <a:p>
            <a:pPr>
              <a:defRPr sz="950">
                <a:solidFill>
                  <a:srgbClr val="6C757D"/>
                </a:solidFill>
              </a:defRPr>
            </a:pPr>
            <a:r>
              <a:t>Dự án Thử nghiệm Nghiên cứu AI Quant | Tác giả: Vương Đức Minh | Trang 7/12</a:t>
            </a:r>
          </a:p>
        </p:txBody>
      </p:sp>
      <p:sp>
        <p:nvSpPr>
          <p:cNvPr id="4" name="Rounded Rectangle 3"/>
          <p:cNvSpPr/>
          <p:nvPr/>
        </p:nvSpPr>
        <p:spPr>
          <a:xfrm>
            <a:off x="731520" y="1371600"/>
            <a:ext cx="5120640" cy="466344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297680"/>
          </a:xfrm>
          <a:prstGeom prst="rect">
            <a:avLst/>
          </a:prstGeom>
          <a:noFill/>
        </p:spPr>
        <p:txBody>
          <a:bodyPr wrap="square">
            <a:spAutoFit/>
          </a:bodyPr>
          <a:lstStyle/>
          <a:p>
            <a:pPr>
              <a:spcAft>
                <a:spcPts val="1000"/>
              </a:spcAft>
              <a:defRPr sz="1400" b="1">
                <a:solidFill>
                  <a:srgbClr val="102C57"/>
                </a:solidFill>
              </a:defRPr>
            </a:pPr>
            <a:r>
              <a:t>Siêu Tham Số Huấn Luyện PPO:</a:t>
            </a:r>
          </a:p>
          <a:p>
            <a:pPr>
              <a:defRPr sz="1150" b="1">
                <a:solidFill>
                  <a:srgbClr val="35A29F"/>
                </a:solidFill>
              </a:defRPr>
            </a:pPr>
            <a:r>
              <a:t>• Thuật toán Lõi:</a:t>
            </a:r>
          </a:p>
          <a:p>
            <a:pPr>
              <a:spcAft>
                <a:spcPts val="600"/>
              </a:spcAft>
              <a:defRPr sz="1000">
                <a:solidFill>
                  <a:srgbClr val="212529"/>
                </a:solidFill>
              </a:defRPr>
            </a:pPr>
            <a:r>
              <a:t>PPO (Proximal Policy Optimization) - Thuật toán RL ổn định nhất hiện nay.</a:t>
            </a:r>
          </a:p>
          <a:p>
            <a:pPr>
              <a:defRPr sz="1150" b="1">
                <a:solidFill>
                  <a:srgbClr val="35A29F"/>
                </a:solidFill>
              </a:defRPr>
            </a:pPr>
            <a:r>
              <a:t>• Kiến trúc Policy:</a:t>
            </a:r>
          </a:p>
          <a:p>
            <a:pPr>
              <a:spcAft>
                <a:spcPts val="600"/>
              </a:spcAft>
              <a:defRPr sz="1000">
                <a:solidFill>
                  <a:srgbClr val="212529"/>
                </a:solidFill>
              </a:defRPr>
            </a:pPr>
            <a:r>
              <a:t>MlpPolicy (Multi-Layer Perceptron), 2 lớp ẩn kết hợp hàm kích hoạt ReLU.</a:t>
            </a:r>
          </a:p>
          <a:p>
            <a:pPr>
              <a:defRPr sz="1150" b="1">
                <a:solidFill>
                  <a:srgbClr val="35A29F"/>
                </a:solidFill>
              </a:defRPr>
            </a:pPr>
            <a:r>
              <a:t>• Total Timesteps:</a:t>
            </a:r>
          </a:p>
          <a:p>
            <a:pPr>
              <a:spcAft>
                <a:spcPts val="600"/>
              </a:spcAft>
              <a:defRPr sz="1000">
                <a:solidFill>
                  <a:srgbClr val="212529"/>
                </a:solidFill>
              </a:defRPr>
            </a:pPr>
            <a:r>
              <a:t>50,000 steps trên môi trường tập trung 50 cổ phiếu đa ngành.</a:t>
            </a:r>
          </a:p>
          <a:p>
            <a:pPr>
              <a:defRPr sz="1150" b="1">
                <a:solidFill>
                  <a:srgbClr val="35A29F"/>
                </a:solidFill>
              </a:defRPr>
            </a:pPr>
            <a:r>
              <a:t>• Learning Rate &amp; Batch:</a:t>
            </a:r>
          </a:p>
          <a:p>
            <a:pPr>
              <a:spcAft>
                <a:spcPts val="600"/>
              </a:spcAft>
              <a:defRPr sz="1000">
                <a:solidFill>
                  <a:srgbClr val="212529"/>
                </a:solidFill>
              </a:defRPr>
            </a:pPr>
            <a:r>
              <a:t>lr = 0.0003, n_steps = 2048, batch_size = 128, ent_coef = 0.01.</a:t>
            </a:r>
          </a:p>
          <a:p>
            <a:pPr>
              <a:defRPr sz="1150" b="1">
                <a:solidFill>
                  <a:srgbClr val="35A29F"/>
                </a:solidFill>
              </a:defRPr>
            </a:pPr>
            <a:r>
              <a:t>• Không Gian Hành Động:</a:t>
            </a:r>
          </a:p>
          <a:p>
            <a:pPr>
              <a:spcAft>
                <a:spcPts val="600"/>
              </a:spcAft>
              <a:defRPr sz="1000">
                <a:solidFill>
                  <a:srgbClr val="212529"/>
                </a:solidFill>
              </a:defRPr>
            </a:pPr>
            <a:r>
              <a:t>Discrete(3): 0: HOLD (Chờ) | 1: BUY (Mua 50% tiền) | 2: SELL (Chốt toàn bộ).</a:t>
            </a:r>
          </a:p>
        </p:txBody>
      </p:sp>
      <p:sp>
        <p:nvSpPr>
          <p:cNvPr id="6" name="Rounded Rectangle 5"/>
          <p:cNvSpPr/>
          <p:nvPr/>
        </p:nvSpPr>
        <p:spPr>
          <a:xfrm>
            <a:off x="6126480" y="1371600"/>
            <a:ext cx="5303520" cy="4663440"/>
          </a:xfrm>
          <a:prstGeom prst="roundRect">
            <a:avLst/>
          </a:prstGeom>
          <a:solidFill>
            <a:srgbClr val="FFFFFF"/>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554480"/>
            <a:ext cx="4937760" cy="4297680"/>
          </a:xfrm>
          <a:prstGeom prst="rect">
            <a:avLst/>
          </a:prstGeom>
          <a:noFill/>
        </p:spPr>
        <p:txBody>
          <a:bodyPr wrap="square">
            <a:spAutoFit/>
          </a:bodyPr>
          <a:lstStyle/>
          <a:p>
            <a:pPr>
              <a:spcAft>
                <a:spcPts val="1000"/>
              </a:spcAft>
              <a:defRPr sz="1400" b="1">
                <a:solidFill>
                  <a:srgbClr val="102C57"/>
                </a:solidFill>
              </a:defRPr>
            </a:pPr>
            <a:r>
              <a:t>Bí Quyết Chống Học Vẹt &amp; Hàm Thưởng:</a:t>
            </a:r>
          </a:p>
          <a:p>
            <a:pPr>
              <a:defRPr sz="1150" b="1">
                <a:solidFill>
                  <a:srgbClr val="102C57"/>
                </a:solidFill>
              </a:defRPr>
            </a:pPr>
            <a:r>
              <a:t>• Môi Trường Đa Cổ Phiếu (MultiStockEnv):</a:t>
            </a:r>
          </a:p>
          <a:p>
            <a:pPr>
              <a:spcAft>
                <a:spcPts val="800"/>
              </a:spcAft>
              <a:defRPr sz="1000">
                <a:solidFill>
                  <a:srgbClr val="212529"/>
                </a:solidFill>
              </a:defRPr>
            </a:pPr>
            <a:r>
              <a:t>Mỗi lần kết thúc hoặc reset game, Agent bị ném ngẫu nhiên vào một mã cổ phiếu khác trong danh sách 50 mã. Bắt buộc AI phải học bản năng thích nghi thay vì học vẹt đường giá 1 mã cố định!</a:t>
            </a:r>
          </a:p>
          <a:p>
            <a:pPr>
              <a:defRPr sz="1150" b="1">
                <a:solidFill>
                  <a:srgbClr val="102C57"/>
                </a:solidFill>
              </a:defRPr>
            </a:pPr>
            <a:r>
              <a:t>• Hàm Thưởng (Reward Function):</a:t>
            </a:r>
          </a:p>
          <a:p>
            <a:pPr>
              <a:spcAft>
                <a:spcPts val="800"/>
              </a:spcAft>
              <a:defRPr sz="1000">
                <a:solidFill>
                  <a:srgbClr val="212529"/>
                </a:solidFill>
              </a:defRPr>
            </a:pPr>
            <a:r>
              <a:t>Phần thưởng = Net_Worth(t) - Net_Worth(t-1). AI nhận thưởng khi tài sản tăng và bị phạt khi tài sản giảm.</a:t>
            </a:r>
          </a:p>
          <a:p>
            <a:pPr>
              <a:defRPr sz="1150" b="1">
                <a:solidFill>
                  <a:srgbClr val="102C57"/>
                </a:solidFill>
              </a:defRPr>
            </a:pPr>
            <a:r>
              <a:t>• Phạt Nặng Đu Đỉnh Phá Sản:</a:t>
            </a:r>
          </a:p>
          <a:p>
            <a:pPr>
              <a:spcAft>
                <a:spcPts val="800"/>
              </a:spcAft>
              <a:defRPr sz="1000">
                <a:solidFill>
                  <a:srgbClr val="212529"/>
                </a:solidFill>
              </a:defRPr>
            </a:pPr>
            <a:r>
              <a:t>Nếu tổng tài sản tụt dưới 80% vốn ban đầu (&lt; -20%), hệ thống trừ thẳng 2.000.000 điểm phạt. Nhờ đó AI học được phản xạ sợ hãi và tự động chạy trước khi sập hầm!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914400"/>
          </a:xfrm>
          <a:prstGeom prst="rect">
            <a:avLst/>
          </a:prstGeom>
          <a:noFill/>
        </p:spPr>
        <p:txBody>
          <a:bodyPr wrap="square" lIns="0" tIns="0" rIns="0" bIns="0">
            <a:spAutoFit/>
          </a:bodyPr>
          <a:lstStyle/>
          <a:p>
            <a:pPr>
              <a:defRPr sz="1100" b="1">
                <a:solidFill>
                  <a:srgbClr val="35A29F"/>
                </a:solidFill>
              </a:defRPr>
            </a:pPr>
            <a:r>
              <a:t>HỆ THỐNG GIAO DỊCH CHỨNG KHOÁN AI QUANT</a:t>
            </a:r>
          </a:p>
          <a:p>
            <a:pPr>
              <a:defRPr sz="2100" b="1">
                <a:solidFill>
                  <a:srgbClr val="102C57"/>
                </a:solidFill>
              </a:defRPr>
            </a:pPr>
            <a:r>
              <a:t>Bước 6: Kiểm Định Thực Chiến Out-Of-Sample (Proof &amp; Evaluation)</a:t>
            </a:r>
          </a:p>
        </p:txBody>
      </p:sp>
      <p:sp>
        <p:nvSpPr>
          <p:cNvPr id="3" name="TextBox 2"/>
          <p:cNvSpPr txBox="1"/>
          <p:nvPr/>
        </p:nvSpPr>
        <p:spPr>
          <a:xfrm>
            <a:off x="731520" y="6309360"/>
            <a:ext cx="10728655" cy="365760"/>
          </a:xfrm>
          <a:prstGeom prst="rect">
            <a:avLst/>
          </a:prstGeom>
          <a:noFill/>
        </p:spPr>
        <p:txBody>
          <a:bodyPr wrap="none" lIns="0" tIns="0" rIns="0" bIns="0">
            <a:spAutoFit/>
          </a:bodyPr>
          <a:lstStyle/>
          <a:p>
            <a:pPr>
              <a:defRPr sz="950">
                <a:solidFill>
                  <a:srgbClr val="6C757D"/>
                </a:solidFill>
              </a:defRPr>
            </a:pPr>
            <a:r>
              <a:t>Dự án Thử nghiệm Nghiên cứu AI Quant | Tác giả: Vương Đức Minh | Trang 8/12</a:t>
            </a:r>
          </a:p>
        </p:txBody>
      </p:sp>
      <p:pic>
        <p:nvPicPr>
          <p:cNvPr id="4" name="Picture 3" descr="chart_backtest.png"/>
          <p:cNvPicPr>
            <a:picLocks noChangeAspect="1"/>
          </p:cNvPicPr>
          <p:nvPr/>
        </p:nvPicPr>
        <p:blipFill>
          <a:blip r:embed="rId2"/>
          <a:stretch>
            <a:fillRect/>
          </a:stretch>
        </p:blipFill>
        <p:spPr>
          <a:xfrm>
            <a:off x="731520" y="1371600"/>
            <a:ext cx="6217920" cy="4663440"/>
          </a:xfrm>
          <a:prstGeom prst="rect">
            <a:avLst/>
          </a:prstGeom>
        </p:spPr>
      </p:pic>
      <p:sp>
        <p:nvSpPr>
          <p:cNvPr id="5" name="Rounded Rectangle 4"/>
          <p:cNvSpPr/>
          <p:nvPr/>
        </p:nvSpPr>
        <p:spPr>
          <a:xfrm>
            <a:off x="7223760" y="1371600"/>
            <a:ext cx="4206240" cy="466344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554480"/>
            <a:ext cx="3840480" cy="4297680"/>
          </a:xfrm>
          <a:prstGeom prst="rect">
            <a:avLst/>
          </a:prstGeom>
          <a:noFill/>
        </p:spPr>
        <p:txBody>
          <a:bodyPr wrap="square">
            <a:spAutoFit/>
          </a:bodyPr>
          <a:lstStyle/>
          <a:p>
            <a:pPr>
              <a:spcAft>
                <a:spcPts val="1000"/>
              </a:spcAft>
              <a:defRPr sz="1400" b="1">
                <a:solidFill>
                  <a:srgbClr val="102C57"/>
                </a:solidFill>
              </a:defRPr>
            </a:pPr>
            <a:r>
              <a:t>Báo Cáo Kiểm Định Khách Quan:</a:t>
            </a:r>
          </a:p>
          <a:p>
            <a:pPr>
              <a:defRPr sz="1100" b="1">
                <a:solidFill>
                  <a:srgbClr val="35A29F"/>
                </a:solidFill>
              </a:defRPr>
            </a:pPr>
            <a:r>
              <a:t>• Tách Tập Dữ Liệu Nghiêm Ngặt:</a:t>
            </a:r>
          </a:p>
          <a:p>
            <a:pPr>
              <a:spcAft>
                <a:spcPts val="600"/>
              </a:spcAft>
              <a:defRPr sz="980">
                <a:solidFill>
                  <a:srgbClr val="212529"/>
                </a:solidFill>
              </a:defRPr>
            </a:pPr>
            <a:r>
              <a:t>Train dữ liệu trước 2024. Đánh giá kiểm thử độc lập từ 2024 - 2026 (Dữ liệu tương lai AI chưa từng thấy).</a:t>
            </a:r>
          </a:p>
          <a:p>
            <a:pPr>
              <a:defRPr sz="1100" b="1">
                <a:solidFill>
                  <a:srgbClr val="35A29F"/>
                </a:solidFill>
              </a:defRPr>
            </a:pPr>
            <a:r>
              <a:t>• Tỷ Lệ Thắng (Win Rate): 68.5%:</a:t>
            </a:r>
          </a:p>
          <a:p>
            <a:pPr>
              <a:spcAft>
                <a:spcPts val="600"/>
              </a:spcAft>
              <a:defRPr sz="980">
                <a:solidFill>
                  <a:srgbClr val="212529"/>
                </a:solidFill>
              </a:defRPr>
            </a:pPr>
            <a:r>
              <a:t>Trong 10 mã cổ phiếu lớn kiểm thử ngẫu nhiên, AI đạt lợi nhuận dương trên 8/10 mã (Tỷ lệ 80%).</a:t>
            </a:r>
          </a:p>
          <a:p>
            <a:pPr>
              <a:defRPr sz="1100" b="1">
                <a:solidFill>
                  <a:srgbClr val="35A29F"/>
                </a:solidFill>
              </a:defRPr>
            </a:pPr>
            <a:r>
              <a:t>• Bảo Vệ Tài Sản Khi Thị Trường Sập:</a:t>
            </a:r>
          </a:p>
          <a:p>
            <a:pPr>
              <a:spcAft>
                <a:spcPts val="600"/>
              </a:spcAft>
              <a:defRPr sz="980">
                <a:solidFill>
                  <a:srgbClr val="212529"/>
                </a:solidFill>
              </a:defRPr>
            </a:pPr>
            <a:r>
              <a:t>Nhờ Cầu dao cắt lỗ (-7%) và BNN Variance, đường cong NAV của AI giữ vững khi thị trường cơ sở rung lắc mạnh.</a:t>
            </a:r>
          </a:p>
          <a:p>
            <a:pPr>
              <a:defRPr sz="1100" b="1">
                <a:solidFill>
                  <a:srgbClr val="35A29F"/>
                </a:solidFill>
              </a:defRPr>
            </a:pPr>
            <a:r>
              <a:t>• Phân Bổ Hành Động Hợp Lý:</a:t>
            </a:r>
          </a:p>
          <a:p>
            <a:pPr>
              <a:spcAft>
                <a:spcPts val="600"/>
              </a:spcAft>
              <a:defRPr sz="980">
                <a:solidFill>
                  <a:srgbClr val="212529"/>
                </a:solidFill>
              </a:defRPr>
            </a:pPr>
            <a:r>
              <a:t>Hành vi AI: Chờ đợi (HOLD) chiếm 70% thời gian; chỉ gom mua (BUY) khi đủ điều kiện khắt khe; chốt lời (SELL) dứt khoát.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914400"/>
          </a:xfrm>
          <a:prstGeom prst="rect">
            <a:avLst/>
          </a:prstGeom>
          <a:noFill/>
        </p:spPr>
        <p:txBody>
          <a:bodyPr wrap="square" lIns="0" tIns="0" rIns="0" bIns="0">
            <a:spAutoFit/>
          </a:bodyPr>
          <a:lstStyle/>
          <a:p>
            <a:pPr>
              <a:defRPr sz="1100" b="1">
                <a:solidFill>
                  <a:srgbClr val="35A29F"/>
                </a:solidFill>
              </a:defRPr>
            </a:pPr>
            <a:r>
              <a:t>HỆ THỐNG GIAO DỊCH CHỨNG KHOÁN AI QUANT</a:t>
            </a:r>
          </a:p>
          <a:p>
            <a:pPr>
              <a:defRPr sz="2100" b="1">
                <a:solidFill>
                  <a:srgbClr val="102C57"/>
                </a:solidFill>
              </a:defRPr>
            </a:pPr>
            <a:r>
              <a:t>Giao Diện Ứng Dụng: Bảng Điều Khiển Web Dashboard (Streamlit)</a:t>
            </a:r>
          </a:p>
        </p:txBody>
      </p:sp>
      <p:sp>
        <p:nvSpPr>
          <p:cNvPr id="3" name="TextBox 2"/>
          <p:cNvSpPr txBox="1"/>
          <p:nvPr/>
        </p:nvSpPr>
        <p:spPr>
          <a:xfrm>
            <a:off x="731520" y="6309360"/>
            <a:ext cx="10728655" cy="365760"/>
          </a:xfrm>
          <a:prstGeom prst="rect">
            <a:avLst/>
          </a:prstGeom>
          <a:noFill/>
        </p:spPr>
        <p:txBody>
          <a:bodyPr wrap="none" lIns="0" tIns="0" rIns="0" bIns="0">
            <a:spAutoFit/>
          </a:bodyPr>
          <a:lstStyle/>
          <a:p>
            <a:pPr>
              <a:defRPr sz="950">
                <a:solidFill>
                  <a:srgbClr val="6C757D"/>
                </a:solidFill>
              </a:defRPr>
            </a:pPr>
            <a:r>
              <a:t>Dự án Thử nghiệm Nghiên cứu AI Quant | Tác giả: Vương Đức Minh | Trang 9/12</a:t>
            </a:r>
          </a:p>
        </p:txBody>
      </p:sp>
      <p:pic>
        <p:nvPicPr>
          <p:cNvPr id="4" name="Picture 3" descr="web_dashboard_ui.png"/>
          <p:cNvPicPr>
            <a:picLocks noChangeAspect="1"/>
          </p:cNvPicPr>
          <p:nvPr/>
        </p:nvPicPr>
        <p:blipFill>
          <a:blip r:embed="rId2"/>
          <a:stretch>
            <a:fillRect/>
          </a:stretch>
        </p:blipFill>
        <p:spPr>
          <a:xfrm>
            <a:off x="731520" y="1371600"/>
            <a:ext cx="6858000" cy="4663440"/>
          </a:xfrm>
          <a:prstGeom prst="rect">
            <a:avLst/>
          </a:prstGeom>
        </p:spPr>
      </p:pic>
      <p:sp>
        <p:nvSpPr>
          <p:cNvPr id="5" name="Rounded Rectangle 4"/>
          <p:cNvSpPr/>
          <p:nvPr/>
        </p:nvSpPr>
        <p:spPr>
          <a:xfrm>
            <a:off x="7863840" y="1371600"/>
            <a:ext cx="3566160" cy="466344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0" y="1554480"/>
            <a:ext cx="3200400" cy="4297680"/>
          </a:xfrm>
          <a:prstGeom prst="rect">
            <a:avLst/>
          </a:prstGeom>
          <a:noFill/>
        </p:spPr>
        <p:txBody>
          <a:bodyPr wrap="square">
            <a:spAutoFit/>
          </a:bodyPr>
          <a:lstStyle/>
          <a:p>
            <a:pPr>
              <a:spcAft>
                <a:spcPts val="1000"/>
              </a:spcAft>
              <a:defRPr sz="1400" b="1">
                <a:solidFill>
                  <a:srgbClr val="102C57"/>
                </a:solidFill>
              </a:defRPr>
            </a:pPr>
            <a:r>
              <a:t>Tính Năng Web Dashboard:</a:t>
            </a:r>
          </a:p>
          <a:p>
            <a:pPr>
              <a:defRPr sz="1100" b="1">
                <a:solidFill>
                  <a:srgbClr val="35A29F"/>
                </a:solidFill>
              </a:defRPr>
            </a:pPr>
            <a:r>
              <a:t>• Tab 1: Giám Sát Real-time:</a:t>
            </a:r>
          </a:p>
          <a:p>
            <a:pPr>
              <a:spcAft>
                <a:spcPts val="600"/>
              </a:spcAft>
              <a:defRPr sz="950">
                <a:solidFill>
                  <a:srgbClr val="212529"/>
                </a:solidFill>
              </a:defRPr>
            </a:pPr>
            <a:r>
              <a:t>Hiển thị 4 thẻ KPI trọng tâm: Tổng NAV, Win Rate, Tín hiệu BNN và Điểm cảm xúc tin tức LLM.</a:t>
            </a:r>
          </a:p>
          <a:p>
            <a:pPr>
              <a:defRPr sz="1100" b="1">
                <a:solidFill>
                  <a:srgbClr val="35A29F"/>
                </a:solidFill>
              </a:defRPr>
            </a:pPr>
            <a:r>
              <a:t>• Tab 2: Trạm Huấn Luyện MLOps:</a:t>
            </a:r>
          </a:p>
          <a:p>
            <a:pPr>
              <a:spcAft>
                <a:spcPts val="600"/>
              </a:spcAft>
              <a:defRPr sz="950">
                <a:solidFill>
                  <a:srgbClr val="212529"/>
                </a:solidFill>
              </a:defRPr>
            </a:pPr>
            <a:r>
              <a:t>Nút kích hoạt 'Mega Training' chạy ngầm trên luồng riêng, không làm đơ gián đoạn lệnh trên sàn.</a:t>
            </a:r>
          </a:p>
          <a:p>
            <a:pPr>
              <a:defRPr sz="1100" b="1">
                <a:solidFill>
                  <a:srgbClr val="35A29F"/>
                </a:solidFill>
              </a:defRPr>
            </a:pPr>
            <a:r>
              <a:t>• Tab 3: Lịch Sử Khớp Lệnh:</a:t>
            </a:r>
          </a:p>
          <a:p>
            <a:pPr>
              <a:spcAft>
                <a:spcPts val="600"/>
              </a:spcAft>
              <a:defRPr sz="950">
                <a:solidFill>
                  <a:srgbClr val="212529"/>
                </a:solidFill>
              </a:defRPr>
            </a:pPr>
            <a:r>
              <a:t>Bảng nhật ký chi tiết: Thời gian, mã CK, hành động, giá khớp và lý do AI giải thích bằng văn bản.</a:t>
            </a:r>
          </a:p>
          <a:p>
            <a:pPr>
              <a:defRPr sz="1100" b="1">
                <a:solidFill>
                  <a:srgbClr val="35A29F"/>
                </a:solidFill>
              </a:defRPr>
            </a:pPr>
            <a:r>
              <a:t>• Khởi Động Nhanh 1-Click:</a:t>
            </a:r>
          </a:p>
          <a:p>
            <a:pPr>
              <a:spcAft>
                <a:spcPts val="600"/>
              </a:spcAft>
              <a:defRPr sz="950">
                <a:solidFill>
                  <a:srgbClr val="212529"/>
                </a:solidFill>
              </a:defRPr>
            </a:pPr>
            <a:r>
              <a:t>Chỉ cần click file Chay_Giao_Dien_Web.bat hoặc gõ lệnh streamlit run Step5_Giao_Dien_Web_Dashboard.py.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914400"/>
          </a:xfrm>
          <a:prstGeom prst="rect">
            <a:avLst/>
          </a:prstGeom>
          <a:noFill/>
        </p:spPr>
        <p:txBody>
          <a:bodyPr wrap="square" lIns="0" tIns="0" rIns="0" bIns="0">
            <a:spAutoFit/>
          </a:bodyPr>
          <a:lstStyle/>
          <a:p>
            <a:pPr>
              <a:defRPr sz="1100" b="1">
                <a:solidFill>
                  <a:srgbClr val="35A29F"/>
                </a:solidFill>
              </a:defRPr>
            </a:pPr>
            <a:r>
              <a:t>HỆ THỐNG GIAO DỊCH CHỨNG KHOÁN AI QUANT</a:t>
            </a:r>
          </a:p>
          <a:p>
            <a:pPr>
              <a:defRPr sz="2100" b="1">
                <a:solidFill>
                  <a:srgbClr val="102C57"/>
                </a:solidFill>
              </a:defRPr>
            </a:pPr>
            <a:r>
              <a:t>Giao Diện Ứng Dụng: Phần Mềm Desktop Window (Tkinter)</a:t>
            </a:r>
          </a:p>
        </p:txBody>
      </p:sp>
      <p:sp>
        <p:nvSpPr>
          <p:cNvPr id="3" name="TextBox 2"/>
          <p:cNvSpPr txBox="1"/>
          <p:nvPr/>
        </p:nvSpPr>
        <p:spPr>
          <a:xfrm>
            <a:off x="731520" y="6309360"/>
            <a:ext cx="10728655" cy="365760"/>
          </a:xfrm>
          <a:prstGeom prst="rect">
            <a:avLst/>
          </a:prstGeom>
          <a:noFill/>
        </p:spPr>
        <p:txBody>
          <a:bodyPr wrap="none" lIns="0" tIns="0" rIns="0" bIns="0">
            <a:spAutoFit/>
          </a:bodyPr>
          <a:lstStyle/>
          <a:p>
            <a:pPr>
              <a:defRPr sz="950">
                <a:solidFill>
                  <a:srgbClr val="6C757D"/>
                </a:solidFill>
              </a:defRPr>
            </a:pPr>
            <a:r>
              <a:t>Dự án Thử nghiệm Nghiên cứu AI Quant | Tác giả: Vương Đức Minh | Trang 10/12</a:t>
            </a:r>
          </a:p>
        </p:txBody>
      </p:sp>
      <p:pic>
        <p:nvPicPr>
          <p:cNvPr id="4" name="Picture 3" descr="desktop_app_ui.png"/>
          <p:cNvPicPr>
            <a:picLocks noChangeAspect="1"/>
          </p:cNvPicPr>
          <p:nvPr/>
        </p:nvPicPr>
        <p:blipFill>
          <a:blip r:embed="rId2"/>
          <a:stretch>
            <a:fillRect/>
          </a:stretch>
        </p:blipFill>
        <p:spPr>
          <a:xfrm>
            <a:off x="731520" y="1371600"/>
            <a:ext cx="6858000" cy="4663440"/>
          </a:xfrm>
          <a:prstGeom prst="rect">
            <a:avLst/>
          </a:prstGeom>
        </p:spPr>
      </p:pic>
      <p:sp>
        <p:nvSpPr>
          <p:cNvPr id="5" name="Rounded Rectangle 4"/>
          <p:cNvSpPr/>
          <p:nvPr/>
        </p:nvSpPr>
        <p:spPr>
          <a:xfrm>
            <a:off x="7863840" y="1371600"/>
            <a:ext cx="3566160" cy="466344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0" y="1554480"/>
            <a:ext cx="3200400" cy="4297680"/>
          </a:xfrm>
          <a:prstGeom prst="rect">
            <a:avLst/>
          </a:prstGeom>
          <a:noFill/>
        </p:spPr>
        <p:txBody>
          <a:bodyPr wrap="square">
            <a:spAutoFit/>
          </a:bodyPr>
          <a:lstStyle/>
          <a:p>
            <a:pPr>
              <a:spcAft>
                <a:spcPts val="1000"/>
              </a:spcAft>
              <a:defRPr sz="1400" b="1">
                <a:solidFill>
                  <a:srgbClr val="102C57"/>
                </a:solidFill>
              </a:defRPr>
            </a:pPr>
            <a:r>
              <a:t>Ưu Thế Phiên Bản Desktop:</a:t>
            </a:r>
          </a:p>
          <a:p>
            <a:pPr>
              <a:defRPr sz="1100" b="1">
                <a:solidFill>
                  <a:srgbClr val="35A29F"/>
                </a:solidFill>
              </a:defRPr>
            </a:pPr>
            <a:r>
              <a:t>• Chạy Native Siêu Nhẹ:</a:t>
            </a:r>
          </a:p>
          <a:p>
            <a:pPr>
              <a:spcAft>
                <a:spcPts val="600"/>
              </a:spcAft>
              <a:defRPr sz="950">
                <a:solidFill>
                  <a:srgbClr val="212529"/>
                </a:solidFill>
              </a:defRPr>
            </a:pPr>
            <a:r>
              <a:t>Xây dựng trên thư viện Tkinter chuẩn của Python, khởi động trong 1 giây, không cần cài đặt browser hay server web phức tạp.</a:t>
            </a:r>
          </a:p>
          <a:p>
            <a:pPr>
              <a:defRPr sz="1100" b="1">
                <a:solidFill>
                  <a:srgbClr val="35A29F"/>
                </a:solidFill>
              </a:defRPr>
            </a:pPr>
            <a:r>
              <a:t>• Đa Luồng (Multi-Threading):</a:t>
            </a:r>
          </a:p>
          <a:p>
            <a:pPr>
              <a:spcAft>
                <a:spcPts val="600"/>
              </a:spcAft>
              <a:defRPr sz="950">
                <a:solidFill>
                  <a:srgbClr val="212529"/>
                </a:solidFill>
              </a:defRPr>
            </a:pPr>
            <a:r>
              <a:t>Quá trình huấn luyện nặng được đẩy ra Background Thread, thanh Progress Bar chạy mượt mà không treo cửa sổ.</a:t>
            </a:r>
          </a:p>
          <a:p>
            <a:pPr>
              <a:defRPr sz="1100" b="1">
                <a:solidFill>
                  <a:srgbClr val="35A29F"/>
                </a:solidFill>
              </a:defRPr>
            </a:pPr>
            <a:r>
              <a:t>• Trực Quan Cho Nhà Đầu Tư:</a:t>
            </a:r>
          </a:p>
          <a:p>
            <a:pPr>
              <a:spcAft>
                <a:spcPts val="600"/>
              </a:spcAft>
              <a:defRPr sz="950">
                <a:solidFill>
                  <a:srgbClr val="212529"/>
                </a:solidFill>
              </a:defRPr>
            </a:pPr>
            <a:r>
              <a:t>Giao diện tab sạch sẽ, thông báo popup khi AI hoàn thành chu kỳ học, phù hợp triển khai trên máy tính cá nhân.</a:t>
            </a:r>
          </a:p>
          <a:p>
            <a:pPr>
              <a:defRPr sz="1100" b="1">
                <a:solidFill>
                  <a:srgbClr val="35A29F"/>
                </a:solidFill>
              </a:defRPr>
            </a:pPr>
            <a:r>
              <a:t>• Khởi Động Nhanh:</a:t>
            </a:r>
          </a:p>
          <a:p>
            <a:pPr>
              <a:spcAft>
                <a:spcPts val="600"/>
              </a:spcAft>
              <a:defRPr sz="950">
                <a:solidFill>
                  <a:srgbClr val="212529"/>
                </a:solidFill>
              </a:defRPr>
            </a:pPr>
            <a:r>
              <a:t>Chạy trực tiếp qua file Chay_Giao_Dien_Desktop.bat.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914400"/>
          </a:xfrm>
          <a:prstGeom prst="rect">
            <a:avLst/>
          </a:prstGeom>
          <a:noFill/>
        </p:spPr>
        <p:txBody>
          <a:bodyPr wrap="square" lIns="0" tIns="0" rIns="0" bIns="0">
            <a:spAutoFit/>
          </a:bodyPr>
          <a:lstStyle/>
          <a:p>
            <a:pPr>
              <a:defRPr sz="1100" b="1">
                <a:solidFill>
                  <a:srgbClr val="35A29F"/>
                </a:solidFill>
              </a:defRPr>
            </a:pPr>
            <a:r>
              <a:t>HỆ THỐNG GIAO DỊCH CHỨNG KHOÁN AI QUANT</a:t>
            </a:r>
          </a:p>
          <a:p>
            <a:pPr>
              <a:defRPr sz="2100" b="1">
                <a:solidFill>
                  <a:srgbClr val="102C57"/>
                </a:solidFill>
              </a:defRPr>
            </a:pPr>
            <a:r>
              <a:t>Các Hạn Chế Cốt Lõi &amp; Thách Thức Thị Trường Thực Tế (Limitations)</a:t>
            </a:r>
          </a:p>
        </p:txBody>
      </p:sp>
      <p:sp>
        <p:nvSpPr>
          <p:cNvPr id="3" name="TextBox 2"/>
          <p:cNvSpPr txBox="1"/>
          <p:nvPr/>
        </p:nvSpPr>
        <p:spPr>
          <a:xfrm>
            <a:off x="731520" y="6309360"/>
            <a:ext cx="10728655" cy="365760"/>
          </a:xfrm>
          <a:prstGeom prst="rect">
            <a:avLst/>
          </a:prstGeom>
          <a:noFill/>
        </p:spPr>
        <p:txBody>
          <a:bodyPr wrap="none" lIns="0" tIns="0" rIns="0" bIns="0">
            <a:spAutoFit/>
          </a:bodyPr>
          <a:lstStyle/>
          <a:p>
            <a:pPr>
              <a:defRPr sz="950">
                <a:solidFill>
                  <a:srgbClr val="6C757D"/>
                </a:solidFill>
              </a:defRPr>
            </a:pPr>
            <a:r>
              <a:t>Dự án Thử nghiệm Nghiên cứu AI Quant | Tác giả: Vương Đức Minh | Trang 11/12</a:t>
            </a:r>
          </a:p>
        </p:txBody>
      </p:sp>
      <p:sp>
        <p:nvSpPr>
          <p:cNvPr id="4" name="Rounded Rectangle 3"/>
          <p:cNvSpPr/>
          <p:nvPr/>
        </p:nvSpPr>
        <p:spPr>
          <a:xfrm>
            <a:off x="731520" y="1371600"/>
            <a:ext cx="5212080" cy="146304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846320" cy="1188720"/>
          </a:xfrm>
          <a:prstGeom prst="rect">
            <a:avLst/>
          </a:prstGeom>
          <a:noFill/>
        </p:spPr>
        <p:txBody>
          <a:bodyPr wrap="square">
            <a:spAutoFit/>
          </a:bodyPr>
          <a:lstStyle/>
          <a:p>
            <a:pPr>
              <a:spcAft>
                <a:spcPts val="400"/>
              </a:spcAft>
              <a:defRPr sz="1200" b="1">
                <a:solidFill>
                  <a:srgbClr val="DC3545"/>
                </a:solidFill>
              </a:defRPr>
            </a:pPr>
            <a:r>
              <a:t>1. Rào Cản Chu Kỳ Thanh Toán T+2.5</a:t>
            </a:r>
          </a:p>
          <a:p>
            <a:pPr>
              <a:defRPr sz="1000">
                <a:solidFill>
                  <a:srgbClr val="212529"/>
                </a:solidFill>
              </a:defRPr>
            </a:pPr>
            <a:r>
              <a:t>Chứng khoán Việt Nam áp dụng chu kỳ T+2.5 (mua xong phải đợi 2.5 ngày mới được bán). Thuật toán RL trong mô phỏng đang giao dịch theo chu kỳ nến ngày, chưa khóa vị thế 2.5 phiên thực tế.</a:t>
            </a:r>
          </a:p>
        </p:txBody>
      </p:sp>
      <p:sp>
        <p:nvSpPr>
          <p:cNvPr id="6" name="Rounded Rectangle 5"/>
          <p:cNvSpPr/>
          <p:nvPr/>
        </p:nvSpPr>
        <p:spPr>
          <a:xfrm>
            <a:off x="6217920" y="1371600"/>
            <a:ext cx="5212080" cy="146304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1188720"/>
          </a:xfrm>
          <a:prstGeom prst="rect">
            <a:avLst/>
          </a:prstGeom>
          <a:noFill/>
        </p:spPr>
        <p:txBody>
          <a:bodyPr wrap="square">
            <a:spAutoFit/>
          </a:bodyPr>
          <a:lstStyle/>
          <a:p>
            <a:pPr>
              <a:spcAft>
                <a:spcPts val="400"/>
              </a:spcAft>
              <a:defRPr sz="1200" b="1">
                <a:solidFill>
                  <a:srgbClr val="DC3545"/>
                </a:solidFill>
              </a:defRPr>
            </a:pPr>
            <a:r>
              <a:t>2. Biên Độ Trần/Sàn (+/- 7%) &amp; Phiên Khớp Lệnh ATO/ATC</a:t>
            </a:r>
          </a:p>
          <a:p>
            <a:pPr>
              <a:defRPr sz="1000">
                <a:solidFill>
                  <a:srgbClr val="212529"/>
                </a:solidFill>
              </a:defRPr>
            </a:pPr>
            <a:r>
              <a:t>Khi thị trường bán tháo cực đoan ('múa bên trăng' - trắng bên mua), lệnh cắt lỗ của AI có thể không thể khớp được ở giá mong muốn. Phiên ATO/ATC có hiện tượng nhiễu giá khớp lệnh.</a:t>
            </a:r>
          </a:p>
        </p:txBody>
      </p:sp>
      <p:sp>
        <p:nvSpPr>
          <p:cNvPr id="8" name="Rounded Rectangle 7"/>
          <p:cNvSpPr/>
          <p:nvPr/>
        </p:nvSpPr>
        <p:spPr>
          <a:xfrm>
            <a:off x="731520" y="3017520"/>
            <a:ext cx="5212080" cy="146304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54679"/>
            <a:ext cx="4846320" cy="1188720"/>
          </a:xfrm>
          <a:prstGeom prst="rect">
            <a:avLst/>
          </a:prstGeom>
          <a:noFill/>
        </p:spPr>
        <p:txBody>
          <a:bodyPr wrap="square">
            <a:spAutoFit/>
          </a:bodyPr>
          <a:lstStyle/>
          <a:p>
            <a:pPr>
              <a:spcAft>
                <a:spcPts val="400"/>
              </a:spcAft>
              <a:defRPr sz="1200" b="1">
                <a:solidFill>
                  <a:srgbClr val="102C57"/>
                </a:solidFill>
              </a:defRPr>
            </a:pPr>
            <a:r>
              <a:t>3. Hiện Tượng Trượt Giá (Slippage) &amp; Thanh Khoản</a:t>
            </a:r>
          </a:p>
          <a:p>
            <a:pPr>
              <a:defRPr sz="1000">
                <a:solidFill>
                  <a:srgbClr val="212529"/>
                </a:solidFill>
              </a:defRPr>
            </a:pPr>
            <a:r>
              <a:t>Giao dịch khối lượng lớn ở các mã Midcaps có thể bị trượt giá đáng kể so với giá đóng cửa trong dữ liệu lịch sử.</a:t>
            </a:r>
          </a:p>
        </p:txBody>
      </p:sp>
      <p:sp>
        <p:nvSpPr>
          <p:cNvPr id="10" name="Rounded Rectangle 9"/>
          <p:cNvSpPr/>
          <p:nvPr/>
        </p:nvSpPr>
        <p:spPr>
          <a:xfrm>
            <a:off x="6217920" y="3017520"/>
            <a:ext cx="5212080" cy="146304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154679"/>
            <a:ext cx="4846320" cy="1188720"/>
          </a:xfrm>
          <a:prstGeom prst="rect">
            <a:avLst/>
          </a:prstGeom>
          <a:noFill/>
        </p:spPr>
        <p:txBody>
          <a:bodyPr wrap="square">
            <a:spAutoFit/>
          </a:bodyPr>
          <a:lstStyle/>
          <a:p>
            <a:pPr>
              <a:spcAft>
                <a:spcPts val="400"/>
              </a:spcAft>
              <a:defRPr sz="1200" b="1">
                <a:solidFill>
                  <a:srgbClr val="102C57"/>
                </a:solidFill>
              </a:defRPr>
            </a:pPr>
            <a:r>
              <a:t>4. Rủi Ro Sự Kiện Bất Thường (Black Swan)</a:t>
            </a:r>
          </a:p>
          <a:p>
            <a:pPr>
              <a:defRPr sz="1000">
                <a:solidFill>
                  <a:srgbClr val="212529"/>
                </a:solidFill>
              </a:defRPr>
            </a:pPr>
            <a:r>
              <a:t>Các sự kiện địa chính trị, thiên nga đen bất ngờ nằm ngoài phân phối dữ liệu 10 năm qua có thể khiến mô hình AI dự báo sai lệch.</a:t>
            </a:r>
          </a:p>
        </p:txBody>
      </p:sp>
      <p:sp>
        <p:nvSpPr>
          <p:cNvPr id="12" name="Rounded Rectangle 11"/>
          <p:cNvSpPr/>
          <p:nvPr/>
        </p:nvSpPr>
        <p:spPr>
          <a:xfrm>
            <a:off x="731520" y="4663440"/>
            <a:ext cx="10728655" cy="1463040"/>
          </a:xfrm>
          <a:prstGeom prst="roundRect">
            <a:avLst/>
          </a:prstGeom>
          <a:solidFill>
            <a:srgbClr val="F8F9FA"/>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800600"/>
            <a:ext cx="10362895" cy="1188720"/>
          </a:xfrm>
          <a:prstGeom prst="rect">
            <a:avLst/>
          </a:prstGeom>
          <a:noFill/>
        </p:spPr>
        <p:txBody>
          <a:bodyPr wrap="square">
            <a:spAutoFit/>
          </a:bodyPr>
          <a:lstStyle/>
          <a:p>
            <a:pPr>
              <a:spcAft>
                <a:spcPts val="400"/>
              </a:spcAft>
              <a:defRPr sz="1200" b="1">
                <a:solidFill>
                  <a:srgbClr val="102C57"/>
                </a:solidFill>
              </a:defRPr>
            </a:pPr>
            <a:r>
              <a:t>5. Chi Phí Gọi API LLM Trên Thực Tế</a:t>
            </a:r>
          </a:p>
          <a:p>
            <a:pPr>
              <a:defRPr sz="1000">
                <a:solidFill>
                  <a:srgbClr val="212529"/>
                </a:solidFill>
              </a:defRPr>
            </a:pPr>
            <a:r>
              <a:t>Việc gọi liên tục 3 LLMs (Gemini, GPT-4, Claude) để cào tin tức hàng ngày của 50 mã sẽ tốn kém chi phí API Token và cần hạ tầng mạng ổn định.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914400"/>
          </a:xfrm>
          <a:prstGeom prst="rect">
            <a:avLst/>
          </a:prstGeom>
          <a:noFill/>
        </p:spPr>
        <p:txBody>
          <a:bodyPr wrap="square" lIns="0" tIns="0" rIns="0" bIns="0">
            <a:spAutoFit/>
          </a:bodyPr>
          <a:lstStyle/>
          <a:p>
            <a:pPr>
              <a:defRPr sz="1100" b="1">
                <a:solidFill>
                  <a:srgbClr val="35A29F"/>
                </a:solidFill>
              </a:defRPr>
            </a:pPr>
            <a:r>
              <a:t>HỆ THỐNG GIAO DỊCH CHỨNG KHOÁN AI QUANT</a:t>
            </a:r>
          </a:p>
          <a:p>
            <a:pPr>
              <a:defRPr sz="2100" b="1">
                <a:solidFill>
                  <a:srgbClr val="102C57"/>
                </a:solidFill>
              </a:defRPr>
            </a:pPr>
            <a:r>
              <a:t>Tuyên Bố Thử Nghiệm &amp; Lộ Trình Phát Triển (Disclaimer &amp; Roadmap)</a:t>
            </a:r>
          </a:p>
        </p:txBody>
      </p:sp>
      <p:sp>
        <p:nvSpPr>
          <p:cNvPr id="3" name="TextBox 2"/>
          <p:cNvSpPr txBox="1"/>
          <p:nvPr/>
        </p:nvSpPr>
        <p:spPr>
          <a:xfrm>
            <a:off x="731520" y="6309360"/>
            <a:ext cx="10728655" cy="365760"/>
          </a:xfrm>
          <a:prstGeom prst="rect">
            <a:avLst/>
          </a:prstGeom>
          <a:noFill/>
        </p:spPr>
        <p:txBody>
          <a:bodyPr wrap="none" lIns="0" tIns="0" rIns="0" bIns="0">
            <a:spAutoFit/>
          </a:bodyPr>
          <a:lstStyle/>
          <a:p>
            <a:pPr>
              <a:defRPr sz="950">
                <a:solidFill>
                  <a:srgbClr val="6C757D"/>
                </a:solidFill>
              </a:defRPr>
            </a:pPr>
            <a:r>
              <a:t>Dự án Thử nghiệm Nghiên cứu AI Quant | Tác giả: Vương Đức Minh | Trang 12/12</a:t>
            </a:r>
          </a:p>
        </p:txBody>
      </p:sp>
      <p:sp>
        <p:nvSpPr>
          <p:cNvPr id="4" name="Rounded Rectangle 3"/>
          <p:cNvSpPr/>
          <p:nvPr/>
        </p:nvSpPr>
        <p:spPr>
          <a:xfrm>
            <a:off x="731520" y="1371600"/>
            <a:ext cx="10728655" cy="2011680"/>
          </a:xfrm>
          <a:prstGeom prst="roundRect">
            <a:avLst/>
          </a:prstGeom>
          <a:solidFill>
            <a:srgbClr val="FEF9E7"/>
          </a:solidFill>
          <a:ln w="1524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10149840" cy="1645920"/>
          </a:xfrm>
          <a:prstGeom prst="rect">
            <a:avLst/>
          </a:prstGeom>
          <a:noFill/>
        </p:spPr>
        <p:txBody>
          <a:bodyPr wrap="square">
            <a:spAutoFit/>
          </a:bodyPr>
          <a:lstStyle/>
          <a:p>
            <a:pPr>
              <a:spcAft>
                <a:spcPts val="600"/>
              </a:spcAft>
              <a:defRPr sz="1300" b="1">
                <a:solidFill>
                  <a:srgbClr val="B7950B"/>
                </a:solidFill>
              </a:defRPr>
            </a:pPr>
            <a:r>
              <a:t>⚠️ TUYÊN BỐ QUAN TRỌNG: ĐÂY LÀ DỰ ÁN NGHIÊN CỨU &amp; THỬ NGHIỆM HỌC THUẬT</a:t>
            </a:r>
          </a:p>
          <a:p>
            <a:pPr>
              <a:defRPr sz="1050">
                <a:solidFill>
                  <a:srgbClr val="212529"/>
                </a:solidFill>
              </a:defRPr>
            </a:pPr>
            <a:r>
              <a:t>Hệ thống này được phát triển nhằm mục đích thử nghiệm các mô hình học máy định lượng, kiểm định giả thuyết khoa học về Reinforcement Learning và Bayesian Neural Network. Toàn bộ kết quả backtest không bảo đảm lợi nhuận trong tương lai. Tác giả không chịu trách nhiệm pháp lý hoặc tài chính cho bất kỳ quyết định đầu tư tiền thật nào dựa trên mã nguồn này.</a:t>
            </a:r>
          </a:p>
        </p:txBody>
      </p:sp>
      <p:sp>
        <p:nvSpPr>
          <p:cNvPr id="6" name="Rounded Rectangle 5"/>
          <p:cNvSpPr/>
          <p:nvPr/>
        </p:nvSpPr>
        <p:spPr>
          <a:xfrm>
            <a:off x="731520" y="3566160"/>
            <a:ext cx="10728655" cy="2468880"/>
          </a:xfrm>
          <a:prstGeom prst="roundRect">
            <a:avLst/>
          </a:prstGeom>
          <a:solidFill>
            <a:srgbClr val="FFFFFF"/>
          </a:solidFill>
          <a:ln w="1524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749039"/>
            <a:ext cx="10149840" cy="2103120"/>
          </a:xfrm>
          <a:prstGeom prst="rect">
            <a:avLst/>
          </a:prstGeom>
          <a:noFill/>
        </p:spPr>
        <p:txBody>
          <a:bodyPr wrap="square">
            <a:spAutoFit/>
          </a:bodyPr>
          <a:lstStyle/>
          <a:p>
            <a:pPr>
              <a:spcAft>
                <a:spcPts val="800"/>
              </a:spcAft>
              <a:defRPr sz="1300" b="1">
                <a:solidFill>
                  <a:srgbClr val="102C57"/>
                </a:solidFill>
              </a:defRPr>
            </a:pPr>
            <a:r>
              <a:t>Lộ Trình Phát Triển Tiếp Theo (Phase 2 Roadmap):</a:t>
            </a:r>
          </a:p>
          <a:p>
            <a:pPr>
              <a:spcAft>
                <a:spcPts val="600"/>
              </a:spcAft>
              <a:defRPr sz="1050">
                <a:solidFill>
                  <a:srgbClr val="212529"/>
                </a:solidFill>
              </a:defRPr>
            </a:pPr>
            <a:r>
              <a:t>• Kết Nối API Chứng Khoán Trực Tiếp: Tích hợp Open API của các công ty chứng khoán Việt Nam (SSI iBoard API, VPS API, DNSE Entrade) để nhận dữ liệu sổ lệnh Real-time (Level 2 Orderbook).</a:t>
            </a:r>
          </a:p>
          <a:p>
            <a:pPr>
              <a:spcAft>
                <a:spcPts val="600"/>
              </a:spcAft>
              <a:defRPr sz="1050">
                <a:solidFill>
                  <a:srgbClr val="212529"/>
                </a:solidFill>
              </a:defRPr>
            </a:pPr>
            <a:r>
              <a:t>• Nâng Cấp Mô Hình Time-Series Transformers: Thử nghiệm các kiến trúc tiên tiến chuyên cho dữ liệu chuỗi thời gian tài chính như PatchTST, Time-LLM hoặc iTransformer.</a:t>
            </a:r>
          </a:p>
          <a:p>
            <a:pPr>
              <a:spcAft>
                <a:spcPts val="600"/>
              </a:spcAft>
              <a:defRPr sz="1050">
                <a:solidFill>
                  <a:srgbClr val="212529"/>
                </a:solidFill>
              </a:defRPr>
            </a:pPr>
            <a:r>
              <a:t>• Tối Ưu Hóa T+2.5 &amp; Lệnh Điều Kiện: Bổ sung cơ chế ràng buộc T+2.5 vào môi trường Gymnasium và tích hợp đặt lệnh Trailing Stop / Stop Limit tự động qua Broker.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