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nter"/>
      <p:bold r:id="rId14"/>
    </p:embeddedFont>
    <p:embeddedFont>
      <p:font typeface="Space Grotesk"/>
      <p:bold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62000" y="3898552"/>
            <a:ext cx="76200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1711672"/>
            <a:ext cx="4036218" cy="190500"/>
          </a:xfrm>
          <a:prstGeom prst="rect">
            <a:avLst/>
          </a:prstGeom>
          <a:noFill/>
        </p:spPr>
        <p:txBody>
          <a:bodyPr wrap="none" lIns="0" tIns="0" rIns="0" bIns="0" anchor="t">
            <a:spAutoFit/>
          </a:bodyPr>
          <a:lstStyle/>
          <a:p>
            <a:pPr algn="l"/>
            <a:r>
              <a:rPr sz="1200" b="1" i="0" u="none">
                <a:solidFill>
                  <a:srgbClr val="0F172A"/>
                </a:solidFill>
                <a:latin typeface="Inter"/>
              </a:rPr>
              <a:t>DỰ ÁN NGHIÊN CỨU &amp; THỬ NGHIỆM</a:t>
            </a:r>
          </a:p>
        </p:txBody>
      </p:sp>
      <p:sp>
        <p:nvSpPr>
          <p:cNvPr id="4" name="TextBox 3"/>
          <p:cNvSpPr txBox="1"/>
          <p:nvPr/>
        </p:nvSpPr>
        <p:spPr>
          <a:xfrm>
            <a:off x="762000" y="2130772"/>
            <a:ext cx="10101262" cy="1462980"/>
          </a:xfrm>
          <a:prstGeom prst="rect">
            <a:avLst/>
          </a:prstGeom>
          <a:noFill/>
        </p:spPr>
        <p:txBody>
          <a:bodyPr wrap="square" lIns="0" tIns="0" rIns="0" bIns="0" anchor="t">
            <a:spAutoFit/>
          </a:bodyPr>
          <a:lstStyle/>
          <a:p>
            <a:pPr algn="l">
              <a:lnSpc>
                <a:spcPts val="5759"/>
              </a:lnSpc>
            </a:pPr>
            <a:r>
              <a:rPr sz="4800" b="1" i="0" u="none">
                <a:solidFill>
                  <a:srgbClr val="0F172A"/>
                </a:solidFill>
                <a:latin typeface="Space Grotesk"/>
              </a:rPr>
              <a:t>Hệ Thống Giao Dịch Chứng Khoán Bằng Trí Tuệ Nhân Tạo</a:t>
            </a:r>
          </a:p>
        </p:txBody>
      </p:sp>
      <p:sp>
        <p:nvSpPr>
          <p:cNvPr id="5" name="TextBox 4"/>
          <p:cNvSpPr txBox="1"/>
          <p:nvPr/>
        </p:nvSpPr>
        <p:spPr>
          <a:xfrm>
            <a:off x="762000" y="4241452"/>
            <a:ext cx="7715250" cy="552450"/>
          </a:xfrm>
          <a:prstGeom prst="rect">
            <a:avLst/>
          </a:prstGeom>
          <a:noFill/>
        </p:spPr>
        <p:txBody>
          <a:bodyPr wrap="square" lIns="0" tIns="0" rIns="0" bIns="0" anchor="t">
            <a:spAutoFit/>
          </a:bodyPr>
          <a:lstStyle/>
          <a:p>
            <a:pPr algn="l"/>
            <a:r>
              <a:rPr sz="1800" b="0" i="0" u="none">
                <a:solidFill>
                  <a:srgbClr val="475569"/>
                </a:solidFill>
                <a:latin typeface="Inter"/>
              </a:rPr>
              <a:t>Tích hợp AI Tự Học (PPO), Đánh giá Rủi ro (BNN), Đọc tin tức tự động và Quản trị vốn an toàn.</a:t>
            </a:r>
          </a:p>
        </p:txBody>
      </p:sp>
      <p:sp>
        <p:nvSpPr>
          <p:cNvPr id="6" name="TextBox 5"/>
          <p:cNvSpPr txBox="1"/>
          <p:nvPr/>
        </p:nvSpPr>
        <p:spPr>
          <a:xfrm>
            <a:off x="762000" y="4946302"/>
            <a:ext cx="6619875" cy="200025"/>
          </a:xfrm>
          <a:prstGeom prst="rect">
            <a:avLst/>
          </a:prstGeom>
          <a:noFill/>
        </p:spPr>
        <p:txBody>
          <a:bodyPr wrap="none" lIns="0" tIns="0" rIns="0" bIns="0" anchor="t">
            <a:spAutoFit/>
          </a:bodyPr>
          <a:lstStyle/>
          <a:p>
            <a:pPr algn="l"/>
            <a:r>
              <a:rPr sz="1350" b="0" i="0" u="none">
                <a:solidFill>
                  <a:srgbClr val="64748B"/>
                </a:solidFill>
                <a:latin typeface="Inter"/>
              </a:rPr>
              <a:t>Tác giả: Vương Đức Minh | Thị trường kiểm thử: VN30 &amp; Midcaps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762000" y="1838325"/>
            <a:ext cx="3352800" cy="4410075"/>
          </a:xfrm>
          <a:prstGeom prst="roundRect">
            <a:avLst>
              <a:gd name="adj" fmla="val 340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19600" y="1838325"/>
            <a:ext cx="3352800" cy="4410075"/>
          </a:xfrm>
          <a:prstGeom prst="roundRect">
            <a:avLst>
              <a:gd name="adj" fmla="val 340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1838325"/>
            <a:ext cx="3352800" cy="4410075"/>
          </a:xfrm>
          <a:prstGeom prst="roundRect">
            <a:avLst>
              <a:gd name="adj" fmla="val 340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1152525" y="2228850"/>
            <a:ext cx="2571750" cy="304800"/>
          </a:xfrm>
          <a:prstGeom prst="rect">
            <a:avLst/>
          </a:prstGeom>
        </p:spPr>
      </p:pic>
      <p:pic>
        <p:nvPicPr>
          <p:cNvPr id="6" name="Picture 5" descr="image.png"/>
          <p:cNvPicPr>
            <a:picLocks noChangeAspect="1"/>
          </p:cNvPicPr>
          <p:nvPr/>
        </p:nvPicPr>
        <p:blipFill>
          <a:blip r:embed="rId3"/>
          <a:stretch>
            <a:fillRect/>
          </a:stretch>
        </p:blipFill>
        <p:spPr>
          <a:xfrm>
            <a:off x="4810125" y="2228850"/>
            <a:ext cx="2571750" cy="304800"/>
          </a:xfrm>
          <a:prstGeom prst="rect">
            <a:avLst/>
          </a:prstGeom>
        </p:spPr>
      </p:pic>
      <p:pic>
        <p:nvPicPr>
          <p:cNvPr id="7" name="Picture 6" descr="image.png"/>
          <p:cNvPicPr>
            <a:picLocks noChangeAspect="1"/>
          </p:cNvPicPr>
          <p:nvPr/>
        </p:nvPicPr>
        <p:blipFill>
          <a:blip r:embed="rId4"/>
          <a:stretch>
            <a:fillRect/>
          </a:stretch>
        </p:blipFill>
        <p:spPr>
          <a:xfrm>
            <a:off x="8467725" y="2228850"/>
            <a:ext cx="2571750" cy="304800"/>
          </a:xfrm>
          <a:prstGeom prst="rect">
            <a:avLst/>
          </a:prstGeom>
        </p:spPr>
      </p:pic>
      <p:pic>
        <p:nvPicPr>
          <p:cNvPr id="8" name="Picture 7" descr="image.png"/>
          <p:cNvPicPr>
            <a:picLocks noChangeAspect="1"/>
          </p:cNvPicPr>
          <p:nvPr/>
        </p:nvPicPr>
        <p:blipFill>
          <a:blip r:embed="rId5"/>
          <a:stretch>
            <a:fillRect/>
          </a:stretch>
        </p:blipFill>
        <p:spPr>
          <a:xfrm>
            <a:off x="1152525" y="3572767"/>
            <a:ext cx="152400" cy="180975"/>
          </a:xfrm>
          <a:prstGeom prst="rect">
            <a:avLst/>
          </a:prstGeom>
        </p:spPr>
      </p:pic>
      <p:pic>
        <p:nvPicPr>
          <p:cNvPr id="9" name="Picture 8" descr="image.png"/>
          <p:cNvPicPr>
            <a:picLocks noChangeAspect="1"/>
          </p:cNvPicPr>
          <p:nvPr/>
        </p:nvPicPr>
        <p:blipFill>
          <a:blip r:embed="rId5"/>
          <a:stretch>
            <a:fillRect/>
          </a:stretch>
        </p:blipFill>
        <p:spPr>
          <a:xfrm>
            <a:off x="1152525" y="3934717"/>
            <a:ext cx="152400" cy="180975"/>
          </a:xfrm>
          <a:prstGeom prst="rect">
            <a:avLst/>
          </a:prstGeom>
        </p:spPr>
      </p:pic>
      <p:pic>
        <p:nvPicPr>
          <p:cNvPr id="10" name="Picture 9" descr="image.png"/>
          <p:cNvPicPr>
            <a:picLocks noChangeAspect="1"/>
          </p:cNvPicPr>
          <p:nvPr/>
        </p:nvPicPr>
        <p:blipFill>
          <a:blip r:embed="rId5"/>
          <a:stretch>
            <a:fillRect/>
          </a:stretch>
        </p:blipFill>
        <p:spPr>
          <a:xfrm>
            <a:off x="1152525" y="4487167"/>
            <a:ext cx="152400" cy="180975"/>
          </a:xfrm>
          <a:prstGeom prst="rect">
            <a:avLst/>
          </a:prstGeom>
        </p:spPr>
      </p:pic>
      <p:pic>
        <p:nvPicPr>
          <p:cNvPr id="11" name="Picture 10" descr="image.png"/>
          <p:cNvPicPr>
            <a:picLocks noChangeAspect="1"/>
          </p:cNvPicPr>
          <p:nvPr/>
        </p:nvPicPr>
        <p:blipFill>
          <a:blip r:embed="rId6"/>
          <a:stretch>
            <a:fillRect/>
          </a:stretch>
        </p:blipFill>
        <p:spPr>
          <a:xfrm>
            <a:off x="4810125" y="3572767"/>
            <a:ext cx="152400" cy="180975"/>
          </a:xfrm>
          <a:prstGeom prst="rect">
            <a:avLst/>
          </a:prstGeom>
        </p:spPr>
      </p:pic>
      <p:pic>
        <p:nvPicPr>
          <p:cNvPr id="12" name="Picture 11" descr="image.png"/>
          <p:cNvPicPr>
            <a:picLocks noChangeAspect="1"/>
          </p:cNvPicPr>
          <p:nvPr/>
        </p:nvPicPr>
        <p:blipFill>
          <a:blip r:embed="rId6"/>
          <a:stretch>
            <a:fillRect/>
          </a:stretch>
        </p:blipFill>
        <p:spPr>
          <a:xfrm>
            <a:off x="4810125" y="3934717"/>
            <a:ext cx="152400" cy="180975"/>
          </a:xfrm>
          <a:prstGeom prst="rect">
            <a:avLst/>
          </a:prstGeom>
        </p:spPr>
      </p:pic>
      <p:pic>
        <p:nvPicPr>
          <p:cNvPr id="13" name="Picture 12" descr="image.png"/>
          <p:cNvPicPr>
            <a:picLocks noChangeAspect="1"/>
          </p:cNvPicPr>
          <p:nvPr/>
        </p:nvPicPr>
        <p:blipFill>
          <a:blip r:embed="rId6"/>
          <a:stretch>
            <a:fillRect/>
          </a:stretch>
        </p:blipFill>
        <p:spPr>
          <a:xfrm>
            <a:off x="4810125" y="4487167"/>
            <a:ext cx="152400" cy="180975"/>
          </a:xfrm>
          <a:prstGeom prst="rect">
            <a:avLst/>
          </a:prstGeom>
        </p:spPr>
      </p:pic>
      <p:pic>
        <p:nvPicPr>
          <p:cNvPr id="14" name="Picture 13" descr="image.png"/>
          <p:cNvPicPr>
            <a:picLocks noChangeAspect="1"/>
          </p:cNvPicPr>
          <p:nvPr/>
        </p:nvPicPr>
        <p:blipFill>
          <a:blip r:embed="rId7"/>
          <a:stretch>
            <a:fillRect/>
          </a:stretch>
        </p:blipFill>
        <p:spPr>
          <a:xfrm>
            <a:off x="8467725" y="3298477"/>
            <a:ext cx="152400" cy="180975"/>
          </a:xfrm>
          <a:prstGeom prst="rect">
            <a:avLst/>
          </a:prstGeom>
        </p:spPr>
      </p:pic>
      <p:pic>
        <p:nvPicPr>
          <p:cNvPr id="15" name="Picture 14" descr="image.png"/>
          <p:cNvPicPr>
            <a:picLocks noChangeAspect="1"/>
          </p:cNvPicPr>
          <p:nvPr/>
        </p:nvPicPr>
        <p:blipFill>
          <a:blip r:embed="rId7"/>
          <a:stretch>
            <a:fillRect/>
          </a:stretch>
        </p:blipFill>
        <p:spPr>
          <a:xfrm>
            <a:off x="8467725" y="3850927"/>
            <a:ext cx="152400" cy="180975"/>
          </a:xfrm>
          <a:prstGeom prst="rect">
            <a:avLst/>
          </a:prstGeom>
        </p:spPr>
      </p:pic>
      <p:pic>
        <p:nvPicPr>
          <p:cNvPr id="16" name="Picture 15" descr="image.png"/>
          <p:cNvPicPr>
            <a:picLocks noChangeAspect="1"/>
          </p:cNvPicPr>
          <p:nvPr/>
        </p:nvPicPr>
        <p:blipFill>
          <a:blip r:embed="rId7"/>
          <a:stretch>
            <a:fillRect/>
          </a:stretch>
        </p:blipFill>
        <p:spPr>
          <a:xfrm>
            <a:off x="8467725" y="4212877"/>
            <a:ext cx="152400" cy="180975"/>
          </a:xfrm>
          <a:prstGeom prst="rect">
            <a:avLst/>
          </a:prstGeom>
        </p:spPr>
      </p:pic>
      <p:sp>
        <p:nvSpPr>
          <p:cNvPr id="17" name="TextBox 16"/>
          <p:cNvSpPr txBox="1"/>
          <p:nvPr/>
        </p:nvSpPr>
        <p:spPr>
          <a:xfrm>
            <a:off x="762000" y="609600"/>
            <a:ext cx="11430000" cy="161925"/>
          </a:xfrm>
          <a:prstGeom prst="rect">
            <a:avLst/>
          </a:prstGeom>
          <a:noFill/>
        </p:spPr>
        <p:txBody>
          <a:bodyPr wrap="none" lIns="0" tIns="0" rIns="0" bIns="0" anchor="t">
            <a:spAutoFit/>
          </a:bodyPr>
          <a:lstStyle/>
          <a:p>
            <a:pPr algn="l"/>
            <a:r>
              <a:rPr sz="1050" b="1" i="0" u="none">
                <a:solidFill>
                  <a:srgbClr val="64748B"/>
                </a:solidFill>
                <a:latin typeface="Inter"/>
              </a:rPr>
              <a:t>TỔNG QUAN HỆ THỐNG</a:t>
            </a:r>
          </a:p>
        </p:txBody>
      </p:sp>
      <p:sp>
        <p:nvSpPr>
          <p:cNvPr id="18" name="TextBox 17"/>
          <p:cNvSpPr txBox="1"/>
          <p:nvPr/>
        </p:nvSpPr>
        <p:spPr>
          <a:xfrm>
            <a:off x="762000" y="923925"/>
            <a:ext cx="11430000" cy="457200"/>
          </a:xfrm>
          <a:prstGeom prst="rect">
            <a:avLst/>
          </a:prstGeom>
          <a:noFill/>
        </p:spPr>
        <p:txBody>
          <a:bodyPr wrap="none" lIns="0" tIns="0" rIns="0" bIns="0" anchor="t">
            <a:spAutoFit/>
          </a:bodyPr>
          <a:lstStyle/>
          <a:p>
            <a:pPr algn="l">
              <a:lnSpc>
                <a:spcPts val="3600"/>
              </a:lnSpc>
            </a:pPr>
            <a:r>
              <a:rPr sz="3000" b="1" i="0" u="none">
                <a:solidFill>
                  <a:srgbClr val="0F172A"/>
                </a:solidFill>
                <a:latin typeface="Space Grotesk"/>
              </a:rPr>
              <a:t>Cấu Trúc Hệ Thống 3 Tầng</a:t>
            </a:r>
          </a:p>
        </p:txBody>
      </p:sp>
      <p:sp>
        <p:nvSpPr>
          <p:cNvPr id="19" name="TextBox 18"/>
          <p:cNvSpPr txBox="1"/>
          <p:nvPr/>
        </p:nvSpPr>
        <p:spPr>
          <a:xfrm>
            <a:off x="1152525" y="2762250"/>
            <a:ext cx="2800350" cy="548580"/>
          </a:xfrm>
          <a:prstGeom prst="rect">
            <a:avLst/>
          </a:prstGeom>
          <a:noFill/>
        </p:spPr>
        <p:txBody>
          <a:bodyPr wrap="square" lIns="0" tIns="0" rIns="0" bIns="0" anchor="t">
            <a:spAutoFit/>
          </a:bodyPr>
          <a:lstStyle/>
          <a:p>
            <a:pPr algn="l">
              <a:lnSpc>
                <a:spcPts val="2160"/>
              </a:lnSpc>
            </a:pPr>
            <a:r>
              <a:rPr sz="1800" b="1" i="0" u="none">
                <a:solidFill>
                  <a:srgbClr val="0F172A"/>
                </a:solidFill>
                <a:latin typeface="Space Grotesk"/>
              </a:rPr>
              <a:t>Tầng 1: Dữ Liệu Đầu Vào</a:t>
            </a:r>
          </a:p>
        </p:txBody>
      </p:sp>
      <p:sp>
        <p:nvSpPr>
          <p:cNvPr id="20" name="TextBox 19"/>
          <p:cNvSpPr txBox="1"/>
          <p:nvPr/>
        </p:nvSpPr>
        <p:spPr>
          <a:xfrm>
            <a:off x="4810125" y="2762250"/>
            <a:ext cx="2800350" cy="548580"/>
          </a:xfrm>
          <a:prstGeom prst="rect">
            <a:avLst/>
          </a:prstGeom>
          <a:noFill/>
        </p:spPr>
        <p:txBody>
          <a:bodyPr wrap="square" lIns="0" tIns="0" rIns="0" bIns="0" anchor="t">
            <a:spAutoFit/>
          </a:bodyPr>
          <a:lstStyle/>
          <a:p>
            <a:pPr algn="l">
              <a:lnSpc>
                <a:spcPts val="2160"/>
              </a:lnSpc>
            </a:pPr>
            <a:r>
              <a:rPr sz="1800" b="1" i="0" u="none">
                <a:solidFill>
                  <a:srgbClr val="0F172A"/>
                </a:solidFill>
                <a:latin typeface="Space Grotesk"/>
              </a:rPr>
              <a:t>Tầng 2: Não Bộ Quyết Định</a:t>
            </a:r>
          </a:p>
        </p:txBody>
      </p:sp>
      <p:sp>
        <p:nvSpPr>
          <p:cNvPr id="21" name="TextBox 20"/>
          <p:cNvSpPr txBox="1"/>
          <p:nvPr/>
        </p:nvSpPr>
        <p:spPr>
          <a:xfrm>
            <a:off x="8467725" y="2762250"/>
            <a:ext cx="3375421" cy="274290"/>
          </a:xfrm>
          <a:prstGeom prst="rect">
            <a:avLst/>
          </a:prstGeom>
          <a:noFill/>
        </p:spPr>
        <p:txBody>
          <a:bodyPr wrap="none" lIns="0" tIns="0" rIns="0" bIns="0" anchor="t">
            <a:spAutoFit/>
          </a:bodyPr>
          <a:lstStyle/>
          <a:p>
            <a:pPr algn="l">
              <a:lnSpc>
                <a:spcPts val="2160"/>
              </a:lnSpc>
            </a:pPr>
            <a:r>
              <a:rPr sz="1800" b="1" i="0" u="none">
                <a:solidFill>
                  <a:srgbClr val="0F172A"/>
                </a:solidFill>
                <a:latin typeface="Space Grotesk"/>
              </a:rPr>
              <a:t>Tầng 3: Quản Trị Rủi Ro</a:t>
            </a:r>
          </a:p>
        </p:txBody>
      </p:sp>
      <p:sp>
        <p:nvSpPr>
          <p:cNvPr id="22" name="TextBox 21"/>
          <p:cNvSpPr txBox="1"/>
          <p:nvPr/>
        </p:nvSpPr>
        <p:spPr>
          <a:xfrm>
            <a:off x="1419225" y="3539430"/>
            <a:ext cx="2947987" cy="209550"/>
          </a:xfrm>
          <a:prstGeom prst="rect">
            <a:avLst/>
          </a:prstGeom>
          <a:noFill/>
        </p:spPr>
        <p:txBody>
          <a:bodyPr wrap="none" lIns="0" tIns="0" rIns="0" bIns="0" anchor="t">
            <a:spAutoFit/>
          </a:bodyPr>
          <a:lstStyle/>
          <a:p>
            <a:pPr algn="l"/>
            <a:r>
              <a:rPr sz="1350" b="0" i="0" u="none">
                <a:solidFill>
                  <a:srgbClr val="475569"/>
                </a:solidFill>
                <a:latin typeface="Inter"/>
              </a:rPr>
              <a:t>Dữ liệu 10 năm lịch sử.</a:t>
            </a:r>
          </a:p>
        </p:txBody>
      </p:sp>
      <p:sp>
        <p:nvSpPr>
          <p:cNvPr id="23" name="TextBox 22"/>
          <p:cNvSpPr txBox="1"/>
          <p:nvPr/>
        </p:nvSpPr>
        <p:spPr>
          <a:xfrm>
            <a:off x="1419225" y="3901380"/>
            <a:ext cx="2400300" cy="400050"/>
          </a:xfrm>
          <a:prstGeom prst="rect">
            <a:avLst/>
          </a:prstGeom>
          <a:noFill/>
        </p:spPr>
        <p:txBody>
          <a:bodyPr wrap="square" lIns="0" tIns="0" rIns="0" bIns="0" anchor="t">
            <a:spAutoFit/>
          </a:bodyPr>
          <a:lstStyle/>
          <a:p>
            <a:pPr algn="l"/>
            <a:r>
              <a:rPr sz="1350" b="0" i="0" u="none">
                <a:solidFill>
                  <a:srgbClr val="475569"/>
                </a:solidFill>
                <a:latin typeface="Inter"/>
              </a:rPr>
              <a:t>Trích xuất 8 chỉ báo kỹ thuật.</a:t>
            </a:r>
          </a:p>
        </p:txBody>
      </p:sp>
      <p:sp>
        <p:nvSpPr>
          <p:cNvPr id="24" name="TextBox 23"/>
          <p:cNvSpPr txBox="1"/>
          <p:nvPr/>
        </p:nvSpPr>
        <p:spPr>
          <a:xfrm>
            <a:off x="1419225" y="4453830"/>
            <a:ext cx="2947987" cy="209550"/>
          </a:xfrm>
          <a:prstGeom prst="rect">
            <a:avLst/>
          </a:prstGeom>
          <a:noFill/>
        </p:spPr>
        <p:txBody>
          <a:bodyPr wrap="none" lIns="0" tIns="0" rIns="0" bIns="0" anchor="t">
            <a:spAutoFit/>
          </a:bodyPr>
          <a:lstStyle/>
          <a:p>
            <a:pPr algn="l"/>
            <a:r>
              <a:rPr sz="1350" b="0" i="0" u="none">
                <a:solidFill>
                  <a:srgbClr val="475569"/>
                </a:solidFill>
                <a:latin typeface="Inter"/>
              </a:rPr>
              <a:t>Đọc tin tức bằng AI (LLM).</a:t>
            </a:r>
          </a:p>
        </p:txBody>
      </p:sp>
      <p:sp>
        <p:nvSpPr>
          <p:cNvPr id="25" name="TextBox 24"/>
          <p:cNvSpPr txBox="1"/>
          <p:nvPr/>
        </p:nvSpPr>
        <p:spPr>
          <a:xfrm>
            <a:off x="5076825" y="3539430"/>
            <a:ext cx="2947987" cy="209550"/>
          </a:xfrm>
          <a:prstGeom prst="rect">
            <a:avLst/>
          </a:prstGeom>
          <a:noFill/>
        </p:spPr>
        <p:txBody>
          <a:bodyPr wrap="none" lIns="0" tIns="0" rIns="0" bIns="0" anchor="t">
            <a:spAutoFit/>
          </a:bodyPr>
          <a:lstStyle/>
          <a:p>
            <a:pPr algn="l"/>
            <a:r>
              <a:rPr sz="1350" b="0" i="0" u="none">
                <a:solidFill>
                  <a:srgbClr val="475569"/>
                </a:solidFill>
                <a:latin typeface="Inter"/>
              </a:rPr>
              <a:t>AI tự động học hỏi (PPO).</a:t>
            </a:r>
          </a:p>
        </p:txBody>
      </p:sp>
      <p:sp>
        <p:nvSpPr>
          <p:cNvPr id="26" name="TextBox 25"/>
          <p:cNvSpPr txBox="1"/>
          <p:nvPr/>
        </p:nvSpPr>
        <p:spPr>
          <a:xfrm>
            <a:off x="5076825" y="3901380"/>
            <a:ext cx="2400300" cy="400050"/>
          </a:xfrm>
          <a:prstGeom prst="rect">
            <a:avLst/>
          </a:prstGeom>
          <a:noFill/>
        </p:spPr>
        <p:txBody>
          <a:bodyPr wrap="square" lIns="0" tIns="0" rIns="0" bIns="0" anchor="t">
            <a:spAutoFit/>
          </a:bodyPr>
          <a:lstStyle/>
          <a:p>
            <a:pPr algn="l"/>
            <a:r>
              <a:rPr sz="1350" b="0" i="0" u="none">
                <a:solidFill>
                  <a:srgbClr val="475569"/>
                </a:solidFill>
                <a:latin typeface="Inter"/>
              </a:rPr>
              <a:t>Đánh giá độ rủi ro lệnh (BNN).</a:t>
            </a:r>
          </a:p>
        </p:txBody>
      </p:sp>
      <p:sp>
        <p:nvSpPr>
          <p:cNvPr id="27" name="TextBox 26"/>
          <p:cNvSpPr txBox="1"/>
          <p:nvPr/>
        </p:nvSpPr>
        <p:spPr>
          <a:xfrm>
            <a:off x="5076825" y="4453830"/>
            <a:ext cx="2947987" cy="209550"/>
          </a:xfrm>
          <a:prstGeom prst="rect">
            <a:avLst/>
          </a:prstGeom>
          <a:noFill/>
        </p:spPr>
        <p:txBody>
          <a:bodyPr wrap="none" lIns="0" tIns="0" rIns="0" bIns="0" anchor="t">
            <a:spAutoFit/>
          </a:bodyPr>
          <a:lstStyle/>
          <a:p>
            <a:pPr algn="l"/>
            <a:r>
              <a:rPr sz="1350" b="0" i="0" u="none">
                <a:solidFill>
                  <a:srgbClr val="475569"/>
                </a:solidFill>
                <a:latin typeface="Inter"/>
              </a:rPr>
              <a:t>Giao dịch tự động đa mã.</a:t>
            </a:r>
          </a:p>
        </p:txBody>
      </p:sp>
      <p:sp>
        <p:nvSpPr>
          <p:cNvPr id="28" name="TextBox 27"/>
          <p:cNvSpPr txBox="1"/>
          <p:nvPr/>
        </p:nvSpPr>
        <p:spPr>
          <a:xfrm>
            <a:off x="8734425" y="3265140"/>
            <a:ext cx="2400300" cy="400050"/>
          </a:xfrm>
          <a:prstGeom prst="rect">
            <a:avLst/>
          </a:prstGeom>
          <a:noFill/>
        </p:spPr>
        <p:txBody>
          <a:bodyPr wrap="square" lIns="0" tIns="0" rIns="0" bIns="0" anchor="t">
            <a:spAutoFit/>
          </a:bodyPr>
          <a:lstStyle/>
          <a:p>
            <a:pPr algn="l"/>
            <a:r>
              <a:rPr sz="1350" b="0" i="0" u="none">
                <a:solidFill>
                  <a:srgbClr val="475569"/>
                </a:solidFill>
                <a:latin typeface="Inter"/>
              </a:rPr>
              <a:t>Lọc lệnh theo lợi nhuận kỳ vọng.</a:t>
            </a:r>
          </a:p>
        </p:txBody>
      </p:sp>
      <p:sp>
        <p:nvSpPr>
          <p:cNvPr id="29" name="TextBox 28"/>
          <p:cNvSpPr txBox="1"/>
          <p:nvPr/>
        </p:nvSpPr>
        <p:spPr>
          <a:xfrm>
            <a:off x="8734425" y="3817590"/>
            <a:ext cx="2947987" cy="209550"/>
          </a:xfrm>
          <a:prstGeom prst="rect">
            <a:avLst/>
          </a:prstGeom>
          <a:noFill/>
        </p:spPr>
        <p:txBody>
          <a:bodyPr wrap="none" lIns="0" tIns="0" rIns="0" bIns="0" anchor="t">
            <a:spAutoFit/>
          </a:bodyPr>
          <a:lstStyle/>
          <a:p>
            <a:pPr algn="l"/>
            <a:r>
              <a:rPr sz="1350" b="0" i="0" u="none">
                <a:solidFill>
                  <a:srgbClr val="475569"/>
                </a:solidFill>
                <a:latin typeface="Inter"/>
              </a:rPr>
              <a:t>Tính toán trừ phí giao dịch.</a:t>
            </a:r>
          </a:p>
        </p:txBody>
      </p:sp>
      <p:sp>
        <p:nvSpPr>
          <p:cNvPr id="30" name="TextBox 29"/>
          <p:cNvSpPr txBox="1"/>
          <p:nvPr/>
        </p:nvSpPr>
        <p:spPr>
          <a:xfrm>
            <a:off x="8734425" y="4179540"/>
            <a:ext cx="2947987" cy="209550"/>
          </a:xfrm>
          <a:prstGeom prst="rect">
            <a:avLst/>
          </a:prstGeom>
          <a:noFill/>
        </p:spPr>
        <p:txBody>
          <a:bodyPr wrap="none" lIns="0" tIns="0" rIns="0" bIns="0" anchor="t">
            <a:spAutoFit/>
          </a:bodyPr>
          <a:lstStyle/>
          <a:p>
            <a:pPr algn="l"/>
            <a:r>
              <a:rPr sz="1350" b="0" i="0" u="none">
                <a:solidFill>
                  <a:srgbClr val="475569"/>
                </a:solidFill>
                <a:latin typeface="Inter"/>
              </a:rPr>
              <a:t>Tự động cắt lỗ bảo vệ vốn.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62000" y="4396680"/>
            <a:ext cx="609600" cy="1905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0" y="1638300"/>
            <a:ext cx="2400300" cy="1676400"/>
          </a:xfrm>
          <a:prstGeom prst="roundRect">
            <a:avLst>
              <a:gd name="adj" fmla="val 68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029700" y="1638300"/>
            <a:ext cx="2400300" cy="1676400"/>
          </a:xfrm>
          <a:prstGeom prst="roundRect">
            <a:avLst>
              <a:gd name="adj" fmla="val 68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0" y="3543300"/>
            <a:ext cx="2400300" cy="1676400"/>
          </a:xfrm>
          <a:prstGeom prst="roundRect">
            <a:avLst>
              <a:gd name="adj" fmla="val 68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029700" y="3543300"/>
            <a:ext cx="2400300" cy="1676400"/>
          </a:xfrm>
          <a:prstGeom prst="roundRect">
            <a:avLst>
              <a:gd name="adj" fmla="val 68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6705600" y="1943100"/>
            <a:ext cx="171450" cy="228600"/>
          </a:xfrm>
          <a:prstGeom prst="rect">
            <a:avLst/>
          </a:prstGeom>
        </p:spPr>
      </p:pic>
      <p:pic>
        <p:nvPicPr>
          <p:cNvPr id="8" name="Picture 7" descr="image.png"/>
          <p:cNvPicPr>
            <a:picLocks noChangeAspect="1"/>
          </p:cNvPicPr>
          <p:nvPr/>
        </p:nvPicPr>
        <p:blipFill>
          <a:blip r:embed="rId3"/>
          <a:stretch>
            <a:fillRect/>
          </a:stretch>
        </p:blipFill>
        <p:spPr>
          <a:xfrm>
            <a:off x="9334500" y="1943100"/>
            <a:ext cx="228600" cy="228600"/>
          </a:xfrm>
          <a:prstGeom prst="rect">
            <a:avLst/>
          </a:prstGeom>
        </p:spPr>
      </p:pic>
      <p:pic>
        <p:nvPicPr>
          <p:cNvPr id="9" name="Picture 8" descr="image.png"/>
          <p:cNvPicPr>
            <a:picLocks noChangeAspect="1"/>
          </p:cNvPicPr>
          <p:nvPr/>
        </p:nvPicPr>
        <p:blipFill>
          <a:blip r:embed="rId4"/>
          <a:stretch>
            <a:fillRect/>
          </a:stretch>
        </p:blipFill>
        <p:spPr>
          <a:xfrm>
            <a:off x="6705600" y="3848100"/>
            <a:ext cx="228600" cy="228600"/>
          </a:xfrm>
          <a:prstGeom prst="rect">
            <a:avLst/>
          </a:prstGeom>
        </p:spPr>
      </p:pic>
      <p:pic>
        <p:nvPicPr>
          <p:cNvPr id="10" name="Picture 9" descr="image.png"/>
          <p:cNvPicPr>
            <a:picLocks noChangeAspect="1"/>
          </p:cNvPicPr>
          <p:nvPr/>
        </p:nvPicPr>
        <p:blipFill>
          <a:blip r:embed="rId5"/>
          <a:stretch>
            <a:fillRect/>
          </a:stretch>
        </p:blipFill>
        <p:spPr>
          <a:xfrm>
            <a:off x="9334500" y="3848100"/>
            <a:ext cx="285750" cy="228600"/>
          </a:xfrm>
          <a:prstGeom prst="rect">
            <a:avLst/>
          </a:prstGeom>
        </p:spPr>
      </p:pic>
      <p:sp>
        <p:nvSpPr>
          <p:cNvPr id="11" name="TextBox 10"/>
          <p:cNvSpPr txBox="1"/>
          <p:nvPr/>
        </p:nvSpPr>
        <p:spPr>
          <a:xfrm>
            <a:off x="762000" y="1537394"/>
            <a:ext cx="6286500" cy="161925"/>
          </a:xfrm>
          <a:prstGeom prst="rect">
            <a:avLst/>
          </a:prstGeom>
          <a:noFill/>
        </p:spPr>
        <p:txBody>
          <a:bodyPr wrap="none" lIns="0" tIns="0" rIns="0" bIns="0" anchor="t">
            <a:spAutoFit/>
          </a:bodyPr>
          <a:lstStyle/>
          <a:p>
            <a:pPr algn="l"/>
            <a:r>
              <a:rPr sz="1050" b="1" i="0" u="none">
                <a:solidFill>
                  <a:srgbClr val="64748B"/>
                </a:solidFill>
                <a:latin typeface="Inter"/>
              </a:rPr>
              <a:t>BƯỚC 1</a:t>
            </a:r>
          </a:p>
        </p:txBody>
      </p:sp>
      <p:sp>
        <p:nvSpPr>
          <p:cNvPr id="12" name="TextBox 11"/>
          <p:cNvSpPr txBox="1"/>
          <p:nvPr/>
        </p:nvSpPr>
        <p:spPr>
          <a:xfrm>
            <a:off x="762000" y="1851719"/>
            <a:ext cx="5380672" cy="1097160"/>
          </a:xfrm>
          <a:prstGeom prst="rect">
            <a:avLst/>
          </a:prstGeom>
          <a:noFill/>
        </p:spPr>
        <p:txBody>
          <a:bodyPr wrap="square" lIns="0" tIns="0" rIns="0" bIns="0" anchor="t">
            <a:spAutoFit/>
          </a:bodyPr>
          <a:lstStyle/>
          <a:p>
            <a:pPr algn="l">
              <a:lnSpc>
                <a:spcPts val="4320"/>
              </a:lnSpc>
            </a:pPr>
            <a:r>
              <a:rPr sz="3600" b="1" i="0" u="none">
                <a:solidFill>
                  <a:srgbClr val="0F172A"/>
                </a:solidFill>
                <a:latin typeface="Space Grotesk"/>
              </a:rPr>
              <a:t>Kỹ Thuật Dữ Liệu Toàn Diện</a:t>
            </a:r>
          </a:p>
        </p:txBody>
      </p:sp>
      <p:sp>
        <p:nvSpPr>
          <p:cNvPr id="13" name="TextBox 12"/>
          <p:cNvSpPr txBox="1"/>
          <p:nvPr/>
        </p:nvSpPr>
        <p:spPr>
          <a:xfrm>
            <a:off x="762000" y="3253680"/>
            <a:ext cx="5124450" cy="914400"/>
          </a:xfrm>
          <a:prstGeom prst="rect">
            <a:avLst/>
          </a:prstGeom>
          <a:noFill/>
        </p:spPr>
        <p:txBody>
          <a:bodyPr wrap="square" lIns="0" tIns="0" rIns="0" bIns="0" anchor="t">
            <a:spAutoFit/>
          </a:bodyPr>
          <a:lstStyle/>
          <a:p>
            <a:pPr algn="l">
              <a:lnSpc>
                <a:spcPts val="2400"/>
              </a:lnSpc>
            </a:pPr>
            <a:r>
              <a:rPr sz="1500" b="0" i="0" u="none">
                <a:solidFill>
                  <a:srgbClr val="475569"/>
                </a:solidFill>
                <a:latin typeface="Inter"/>
              </a:rPr>
              <a:t>Hệ thống được huấn luyện trên khối dữ liệu 10 năm, bao phủ trọn vẹn các chu kỳ Uptrend, Downtrend và khủng hoảng thị trường.</a:t>
            </a:r>
          </a:p>
        </p:txBody>
      </p:sp>
      <p:sp>
        <p:nvSpPr>
          <p:cNvPr id="14" name="TextBox 13"/>
          <p:cNvSpPr txBox="1"/>
          <p:nvPr/>
        </p:nvSpPr>
        <p:spPr>
          <a:xfrm>
            <a:off x="762000" y="4644330"/>
            <a:ext cx="6286500" cy="200025"/>
          </a:xfrm>
          <a:prstGeom prst="rect">
            <a:avLst/>
          </a:prstGeom>
          <a:noFill/>
        </p:spPr>
        <p:txBody>
          <a:bodyPr wrap="none" lIns="0" tIns="0" rIns="0" bIns="0" anchor="t">
            <a:spAutoFit/>
          </a:bodyPr>
          <a:lstStyle/>
          <a:p>
            <a:pPr algn="l"/>
            <a:r>
              <a:rPr sz="1350" b="1" i="0" u="none">
                <a:solidFill>
                  <a:srgbClr val="0F172A"/>
                </a:solidFill>
                <a:latin typeface="Inter"/>
              </a:rPr>
              <a:t>Dữ liệu đầu vào (Observation Space):</a:t>
            </a:r>
          </a:p>
        </p:txBody>
      </p:sp>
      <p:sp>
        <p:nvSpPr>
          <p:cNvPr id="15" name="TextBox 14"/>
          <p:cNvSpPr txBox="1"/>
          <p:nvPr/>
        </p:nvSpPr>
        <p:spPr>
          <a:xfrm>
            <a:off x="762000" y="4920555"/>
            <a:ext cx="5124450" cy="400050"/>
          </a:xfrm>
          <a:prstGeom prst="rect">
            <a:avLst/>
          </a:prstGeom>
          <a:noFill/>
        </p:spPr>
        <p:txBody>
          <a:bodyPr wrap="square" lIns="0" tIns="0" rIns="0" bIns="0" anchor="t">
            <a:spAutoFit/>
          </a:bodyPr>
          <a:lstStyle/>
          <a:p>
            <a:pPr algn="l"/>
            <a:r>
              <a:rPr sz="1350" b="0" i="0" u="none">
                <a:solidFill>
                  <a:srgbClr val="475569"/>
                </a:solidFill>
                <a:latin typeface="Inter"/>
              </a:rPr>
              <a:t>[Tiền mặt, Cổ phiếu, Giá, RSI, MACD, OBV, Vĩ mô, Cảm xúc tin tức]</a:t>
            </a:r>
          </a:p>
        </p:txBody>
      </p:sp>
      <p:sp>
        <p:nvSpPr>
          <p:cNvPr id="16" name="TextBox 15"/>
          <p:cNvSpPr txBox="1"/>
          <p:nvPr/>
        </p:nvSpPr>
        <p:spPr>
          <a:xfrm>
            <a:off x="6705600" y="2324100"/>
            <a:ext cx="2350293"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50 Mã Cổ Phiếu</a:t>
            </a:r>
          </a:p>
        </p:txBody>
      </p:sp>
      <p:sp>
        <p:nvSpPr>
          <p:cNvPr id="17" name="TextBox 16"/>
          <p:cNvSpPr txBox="1"/>
          <p:nvPr/>
        </p:nvSpPr>
        <p:spPr>
          <a:xfrm>
            <a:off x="6705600" y="2628900"/>
            <a:ext cx="1885950" cy="381000"/>
          </a:xfrm>
          <a:prstGeom prst="rect">
            <a:avLst/>
          </a:prstGeom>
          <a:noFill/>
        </p:spPr>
        <p:txBody>
          <a:bodyPr wrap="square" lIns="0" tIns="0" rIns="0" bIns="0" anchor="t">
            <a:spAutoFit/>
          </a:bodyPr>
          <a:lstStyle/>
          <a:p>
            <a:pPr algn="l"/>
            <a:r>
              <a:rPr sz="1200" b="0" i="0" u="none">
                <a:solidFill>
                  <a:srgbClr val="64748B"/>
                </a:solidFill>
                <a:latin typeface="Inter"/>
              </a:rPr>
              <a:t>Nhóm VN30 và Midcaps có thanh khoản cao.</a:t>
            </a:r>
          </a:p>
        </p:txBody>
      </p:sp>
      <p:sp>
        <p:nvSpPr>
          <p:cNvPr id="18" name="TextBox 17"/>
          <p:cNvSpPr txBox="1"/>
          <p:nvPr/>
        </p:nvSpPr>
        <p:spPr>
          <a:xfrm>
            <a:off x="9334500" y="2324100"/>
            <a:ext cx="2350293"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Chỉ Báo Kỹ Thuật</a:t>
            </a:r>
          </a:p>
        </p:txBody>
      </p:sp>
      <p:sp>
        <p:nvSpPr>
          <p:cNvPr id="19" name="TextBox 18"/>
          <p:cNvSpPr txBox="1"/>
          <p:nvPr/>
        </p:nvSpPr>
        <p:spPr>
          <a:xfrm>
            <a:off x="9334500" y="2628900"/>
            <a:ext cx="1885950" cy="381000"/>
          </a:xfrm>
          <a:prstGeom prst="rect">
            <a:avLst/>
          </a:prstGeom>
          <a:noFill/>
        </p:spPr>
        <p:txBody>
          <a:bodyPr wrap="square" lIns="0" tIns="0" rIns="0" bIns="0" anchor="t">
            <a:spAutoFit/>
          </a:bodyPr>
          <a:lstStyle/>
          <a:p>
            <a:pPr algn="l"/>
            <a:r>
              <a:rPr sz="1200" b="0" i="0" u="none">
                <a:solidFill>
                  <a:srgbClr val="64748B"/>
                </a:solidFill>
                <a:latin typeface="Inter"/>
              </a:rPr>
              <a:t>RSI, MACD, OBV để đo lường dòng tiền.</a:t>
            </a:r>
          </a:p>
        </p:txBody>
      </p:sp>
      <p:sp>
        <p:nvSpPr>
          <p:cNvPr id="20" name="TextBox 19"/>
          <p:cNvSpPr txBox="1"/>
          <p:nvPr/>
        </p:nvSpPr>
        <p:spPr>
          <a:xfrm>
            <a:off x="6705600" y="4229100"/>
            <a:ext cx="2350293"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Dữ Liệu Vĩ Mô</a:t>
            </a:r>
          </a:p>
        </p:txBody>
      </p:sp>
      <p:sp>
        <p:nvSpPr>
          <p:cNvPr id="21" name="TextBox 20"/>
          <p:cNvSpPr txBox="1"/>
          <p:nvPr/>
        </p:nvSpPr>
        <p:spPr>
          <a:xfrm>
            <a:off x="6705600" y="4533900"/>
            <a:ext cx="1885950" cy="381000"/>
          </a:xfrm>
          <a:prstGeom prst="rect">
            <a:avLst/>
          </a:prstGeom>
          <a:noFill/>
        </p:spPr>
        <p:txBody>
          <a:bodyPr wrap="square" lIns="0" tIns="0" rIns="0" bIns="0" anchor="t">
            <a:spAutoFit/>
          </a:bodyPr>
          <a:lstStyle/>
          <a:p>
            <a:pPr algn="l"/>
            <a:r>
              <a:rPr sz="1200" b="0" i="0" u="none">
                <a:solidFill>
                  <a:srgbClr val="64748B"/>
                </a:solidFill>
                <a:latin typeface="Inter"/>
              </a:rPr>
              <a:t>Chu kỳ biến động lãi suất từ 3% - 7%.</a:t>
            </a:r>
          </a:p>
        </p:txBody>
      </p:sp>
      <p:sp>
        <p:nvSpPr>
          <p:cNvPr id="22" name="TextBox 21"/>
          <p:cNvSpPr txBox="1"/>
          <p:nvPr/>
        </p:nvSpPr>
        <p:spPr>
          <a:xfrm>
            <a:off x="9334500" y="4229100"/>
            <a:ext cx="2350293"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Dòng Tiền Ngoại</a:t>
            </a:r>
          </a:p>
        </p:txBody>
      </p:sp>
      <p:sp>
        <p:nvSpPr>
          <p:cNvPr id="23" name="TextBox 22"/>
          <p:cNvSpPr txBox="1"/>
          <p:nvPr/>
        </p:nvSpPr>
        <p:spPr>
          <a:xfrm>
            <a:off x="9334500" y="4533900"/>
            <a:ext cx="1885950" cy="381000"/>
          </a:xfrm>
          <a:prstGeom prst="rect">
            <a:avLst/>
          </a:prstGeom>
          <a:noFill/>
        </p:spPr>
        <p:txBody>
          <a:bodyPr wrap="square" lIns="0" tIns="0" rIns="0" bIns="0" anchor="t">
            <a:spAutoFit/>
          </a:bodyPr>
          <a:lstStyle/>
          <a:p>
            <a:pPr algn="l"/>
            <a:r>
              <a:rPr sz="1200" b="0" i="0" u="none">
                <a:solidFill>
                  <a:srgbClr val="64748B"/>
                </a:solidFill>
                <a:latin typeface="Inter"/>
              </a:rPr>
              <a:t>Mô phỏng biến động mua/bán ròng thực tế.</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6888509" y="1838325"/>
            <a:ext cx="4541490" cy="4410075"/>
          </a:xfrm>
          <a:prstGeom prst="roundRect">
            <a:avLst>
              <a:gd name="adj" fmla="val 259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1838325"/>
            <a:ext cx="5669309" cy="857250"/>
          </a:xfrm>
          <a:prstGeom prst="roundRect">
            <a:avLst>
              <a:gd name="adj" fmla="val 1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62000" y="2924175"/>
            <a:ext cx="5669309" cy="857250"/>
          </a:xfrm>
          <a:prstGeom prst="roundRect">
            <a:avLst>
              <a:gd name="adj" fmla="val 1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62000" y="4010025"/>
            <a:ext cx="5669309" cy="857250"/>
          </a:xfrm>
          <a:prstGeom prst="roundRect">
            <a:avLst>
              <a:gd name="adj" fmla="val 1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269509" y="4433887"/>
            <a:ext cx="3779490" cy="8953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62000" y="1838325"/>
            <a:ext cx="38100" cy="85725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62000" y="2924175"/>
            <a:ext cx="38100" cy="857250"/>
          </a:xfrm>
          <a:prstGeom prst="rect">
            <a:avLst/>
          </a:prstGeom>
          <a:solidFill>
            <a:srgbClr val="10A3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2000" y="4010025"/>
            <a:ext cx="38100" cy="85725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269509" y="3481387"/>
            <a:ext cx="3779490" cy="76200"/>
          </a:xfrm>
          <a:prstGeom prst="roundRect">
            <a:avLst>
              <a:gd name="adj" fmla="val 5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269509" y="4052887"/>
            <a:ext cx="3779490" cy="76200"/>
          </a:xfrm>
          <a:prstGeom prst="roundRect">
            <a:avLst>
              <a:gd name="adj" fmla="val 5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269509" y="4433887"/>
            <a:ext cx="377949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269509" y="3481387"/>
            <a:ext cx="2456557" cy="762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269509" y="4052887"/>
            <a:ext cx="1322784" cy="7620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2000" y="609600"/>
            <a:ext cx="11430000" cy="161925"/>
          </a:xfrm>
          <a:prstGeom prst="rect">
            <a:avLst/>
          </a:prstGeom>
          <a:noFill/>
        </p:spPr>
        <p:txBody>
          <a:bodyPr wrap="none" lIns="0" tIns="0" rIns="0" bIns="0" anchor="t">
            <a:spAutoFit/>
          </a:bodyPr>
          <a:lstStyle/>
          <a:p>
            <a:pPr algn="l"/>
            <a:r>
              <a:rPr sz="1050" b="1" i="0" u="none">
                <a:solidFill>
                  <a:srgbClr val="64748B"/>
                </a:solidFill>
                <a:latin typeface="Inter"/>
              </a:rPr>
              <a:t>BƯỚC 2</a:t>
            </a:r>
          </a:p>
        </p:txBody>
      </p:sp>
      <p:sp>
        <p:nvSpPr>
          <p:cNvPr id="16" name="TextBox 15"/>
          <p:cNvSpPr txBox="1"/>
          <p:nvPr/>
        </p:nvSpPr>
        <p:spPr>
          <a:xfrm>
            <a:off x="762000" y="923925"/>
            <a:ext cx="11430000" cy="457200"/>
          </a:xfrm>
          <a:prstGeom prst="rect">
            <a:avLst/>
          </a:prstGeom>
          <a:noFill/>
        </p:spPr>
        <p:txBody>
          <a:bodyPr wrap="none" lIns="0" tIns="0" rIns="0" bIns="0" anchor="t">
            <a:spAutoFit/>
          </a:bodyPr>
          <a:lstStyle/>
          <a:p>
            <a:pPr algn="l">
              <a:lnSpc>
                <a:spcPts val="3600"/>
              </a:lnSpc>
            </a:pPr>
            <a:r>
              <a:rPr sz="3000" b="1" i="0" u="none">
                <a:solidFill>
                  <a:srgbClr val="0F172A"/>
                </a:solidFill>
                <a:latin typeface="Space Grotesk"/>
              </a:rPr>
              <a:t>Hệ Thống Đọc Tin Tức Đa Mô Hình (LLM)</a:t>
            </a:r>
          </a:p>
        </p:txBody>
      </p:sp>
      <p:sp>
        <p:nvSpPr>
          <p:cNvPr id="17" name="TextBox 16"/>
          <p:cNvSpPr txBox="1"/>
          <p:nvPr/>
        </p:nvSpPr>
        <p:spPr>
          <a:xfrm>
            <a:off x="7269509" y="2757487"/>
            <a:ext cx="4922490"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Độ Tin Cậy Của Tin Tức</a:t>
            </a:r>
          </a:p>
        </p:txBody>
      </p:sp>
      <p:sp>
        <p:nvSpPr>
          <p:cNvPr id="18" name="TextBox 17"/>
          <p:cNvSpPr txBox="1"/>
          <p:nvPr/>
        </p:nvSpPr>
        <p:spPr>
          <a:xfrm>
            <a:off x="1028700" y="2152650"/>
            <a:ext cx="1666875" cy="228600"/>
          </a:xfrm>
          <a:prstGeom prst="rect">
            <a:avLst/>
          </a:prstGeom>
          <a:noFill/>
        </p:spPr>
        <p:txBody>
          <a:bodyPr wrap="none" lIns="0" tIns="0" rIns="0" bIns="0" anchor="t">
            <a:spAutoFit/>
          </a:bodyPr>
          <a:lstStyle/>
          <a:p>
            <a:pPr algn="l"/>
            <a:r>
              <a:rPr sz="1500" b="1" i="0" u="none">
                <a:solidFill>
                  <a:srgbClr val="1E293B"/>
                </a:solidFill>
                <a:latin typeface="Inter"/>
              </a:rPr>
              <a:t>Gemini Pro</a:t>
            </a:r>
          </a:p>
        </p:txBody>
      </p:sp>
      <p:sp>
        <p:nvSpPr>
          <p:cNvPr id="19" name="TextBox 18"/>
          <p:cNvSpPr txBox="1"/>
          <p:nvPr/>
        </p:nvSpPr>
        <p:spPr>
          <a:xfrm>
            <a:off x="2590800" y="2066925"/>
            <a:ext cx="3707159" cy="400050"/>
          </a:xfrm>
          <a:prstGeom prst="rect">
            <a:avLst/>
          </a:prstGeom>
          <a:noFill/>
        </p:spPr>
        <p:txBody>
          <a:bodyPr wrap="square" lIns="0" tIns="0" rIns="0" bIns="0" anchor="t">
            <a:spAutoFit/>
          </a:bodyPr>
          <a:lstStyle/>
          <a:p>
            <a:pPr algn="l"/>
            <a:r>
              <a:rPr sz="1350" b="0" i="0" u="none">
                <a:solidFill>
                  <a:srgbClr val="475569"/>
                </a:solidFill>
                <a:latin typeface="Inter"/>
              </a:rPr>
              <a:t>Phân tích tình hình tài chính và sự kiện kinh tế vĩ mô.</a:t>
            </a:r>
          </a:p>
        </p:txBody>
      </p:sp>
      <p:sp>
        <p:nvSpPr>
          <p:cNvPr id="20" name="TextBox 19"/>
          <p:cNvSpPr txBox="1"/>
          <p:nvPr/>
        </p:nvSpPr>
        <p:spPr>
          <a:xfrm>
            <a:off x="1028700" y="3238500"/>
            <a:ext cx="1666875" cy="228600"/>
          </a:xfrm>
          <a:prstGeom prst="rect">
            <a:avLst/>
          </a:prstGeom>
          <a:noFill/>
        </p:spPr>
        <p:txBody>
          <a:bodyPr wrap="none" lIns="0" tIns="0" rIns="0" bIns="0" anchor="t">
            <a:spAutoFit/>
          </a:bodyPr>
          <a:lstStyle/>
          <a:p>
            <a:pPr algn="l"/>
            <a:r>
              <a:rPr sz="1500" b="1" i="0" u="none">
                <a:solidFill>
                  <a:srgbClr val="1E293B"/>
                </a:solidFill>
                <a:latin typeface="Inter"/>
              </a:rPr>
              <a:t>GPT-4</a:t>
            </a:r>
          </a:p>
        </p:txBody>
      </p:sp>
      <p:sp>
        <p:nvSpPr>
          <p:cNvPr id="21" name="TextBox 20"/>
          <p:cNvSpPr txBox="1"/>
          <p:nvPr/>
        </p:nvSpPr>
        <p:spPr>
          <a:xfrm>
            <a:off x="2590800" y="3152775"/>
            <a:ext cx="3707159" cy="400050"/>
          </a:xfrm>
          <a:prstGeom prst="rect">
            <a:avLst/>
          </a:prstGeom>
          <a:noFill/>
        </p:spPr>
        <p:txBody>
          <a:bodyPr wrap="square" lIns="0" tIns="0" rIns="0" bIns="0" anchor="t">
            <a:spAutoFit/>
          </a:bodyPr>
          <a:lstStyle/>
          <a:p>
            <a:pPr algn="l"/>
            <a:r>
              <a:rPr sz="1350" b="0" i="0" u="none">
                <a:solidFill>
                  <a:srgbClr val="475569"/>
                </a:solidFill>
                <a:latin typeface="Inter"/>
              </a:rPr>
              <a:t>Suy luận chuyên sâu về sức khỏe tài chính của doanh nghiệp.</a:t>
            </a:r>
          </a:p>
        </p:txBody>
      </p:sp>
      <p:sp>
        <p:nvSpPr>
          <p:cNvPr id="22" name="TextBox 21"/>
          <p:cNvSpPr txBox="1"/>
          <p:nvPr/>
        </p:nvSpPr>
        <p:spPr>
          <a:xfrm>
            <a:off x="1028700" y="4324350"/>
            <a:ext cx="1666875" cy="228600"/>
          </a:xfrm>
          <a:prstGeom prst="rect">
            <a:avLst/>
          </a:prstGeom>
          <a:noFill/>
        </p:spPr>
        <p:txBody>
          <a:bodyPr wrap="none" lIns="0" tIns="0" rIns="0" bIns="0" anchor="t">
            <a:spAutoFit/>
          </a:bodyPr>
          <a:lstStyle/>
          <a:p>
            <a:pPr algn="l"/>
            <a:r>
              <a:rPr sz="1500" b="1" i="0" u="none">
                <a:solidFill>
                  <a:srgbClr val="1E293B"/>
                </a:solidFill>
                <a:latin typeface="Inter"/>
              </a:rPr>
              <a:t>Claude Opus</a:t>
            </a:r>
          </a:p>
        </p:txBody>
      </p:sp>
      <p:sp>
        <p:nvSpPr>
          <p:cNvPr id="23" name="TextBox 22"/>
          <p:cNvSpPr txBox="1"/>
          <p:nvPr/>
        </p:nvSpPr>
        <p:spPr>
          <a:xfrm>
            <a:off x="2590800" y="4238625"/>
            <a:ext cx="3707159" cy="400050"/>
          </a:xfrm>
          <a:prstGeom prst="rect">
            <a:avLst/>
          </a:prstGeom>
          <a:noFill/>
        </p:spPr>
        <p:txBody>
          <a:bodyPr wrap="square" lIns="0" tIns="0" rIns="0" bIns="0" anchor="t">
            <a:spAutoFit/>
          </a:bodyPr>
          <a:lstStyle/>
          <a:p>
            <a:pPr algn="l"/>
            <a:r>
              <a:rPr sz="1350" b="0" i="0" u="none">
                <a:solidFill>
                  <a:srgbClr val="475569"/>
                </a:solidFill>
                <a:latin typeface="Inter"/>
              </a:rPr>
              <a:t>Kiểm tra thông tin chéo, ngăn chặn lỗi tự bịa thông tin.</a:t>
            </a:r>
          </a:p>
        </p:txBody>
      </p:sp>
      <p:sp>
        <p:nvSpPr>
          <p:cNvPr id="24" name="TextBox 23"/>
          <p:cNvSpPr txBox="1"/>
          <p:nvPr/>
        </p:nvSpPr>
        <p:spPr>
          <a:xfrm>
            <a:off x="7269509" y="4672012"/>
            <a:ext cx="4724362" cy="200025"/>
          </a:xfrm>
          <a:prstGeom prst="rect">
            <a:avLst/>
          </a:prstGeom>
          <a:noFill/>
        </p:spPr>
        <p:txBody>
          <a:bodyPr wrap="none" lIns="0" tIns="0" rIns="0" bIns="0" anchor="t">
            <a:spAutoFit/>
          </a:bodyPr>
          <a:lstStyle/>
          <a:p>
            <a:pPr algn="l"/>
            <a:r>
              <a:rPr sz="1350" b="1" i="0" u="none">
                <a:solidFill>
                  <a:srgbClr val="1E293B"/>
                </a:solidFill>
                <a:latin typeface="Inter"/>
              </a:rPr>
              <a:t>Xử Lý Ngày Không Có Tin:</a:t>
            </a:r>
          </a:p>
        </p:txBody>
      </p:sp>
      <p:sp>
        <p:nvSpPr>
          <p:cNvPr id="25" name="TextBox 24"/>
          <p:cNvSpPr txBox="1"/>
          <p:nvPr/>
        </p:nvSpPr>
        <p:spPr>
          <a:xfrm>
            <a:off x="7269509" y="4948237"/>
            <a:ext cx="3874740" cy="381000"/>
          </a:xfrm>
          <a:prstGeom prst="rect">
            <a:avLst/>
          </a:prstGeom>
          <a:noFill/>
        </p:spPr>
        <p:txBody>
          <a:bodyPr wrap="square" lIns="0" tIns="0" rIns="0" bIns="0" anchor="t">
            <a:spAutoFit/>
          </a:bodyPr>
          <a:lstStyle/>
          <a:p>
            <a:pPr algn="l"/>
            <a:r>
              <a:rPr sz="1200" b="0" i="0" u="none">
                <a:solidFill>
                  <a:srgbClr val="475569"/>
                </a:solidFill>
                <a:latin typeface="Inter"/>
              </a:rPr>
              <a:t>Gán điểm trung lập 0.5. Không thiên vị hay đánh giá xấu cổ phiếu.</a:t>
            </a:r>
          </a:p>
        </p:txBody>
      </p:sp>
      <p:sp>
        <p:nvSpPr>
          <p:cNvPr id="26" name="TextBox 25"/>
          <p:cNvSpPr txBox="1"/>
          <p:nvPr/>
        </p:nvSpPr>
        <p:spPr>
          <a:xfrm>
            <a:off x="7269509" y="3214687"/>
            <a:ext cx="2476500" cy="190500"/>
          </a:xfrm>
          <a:prstGeom prst="rect">
            <a:avLst/>
          </a:prstGeom>
          <a:noFill/>
        </p:spPr>
        <p:txBody>
          <a:bodyPr wrap="none" lIns="0" tIns="0" rIns="0" bIns="0" anchor="t">
            <a:spAutoFit/>
          </a:bodyPr>
          <a:lstStyle/>
          <a:p>
            <a:pPr algn="l"/>
            <a:r>
              <a:rPr sz="1200" b="1" i="0" u="none">
                <a:solidFill>
                  <a:srgbClr val="1E293B"/>
                </a:solidFill>
                <a:latin typeface="Inter"/>
              </a:rPr>
              <a:t>Báo chính thống (Đáng tin)</a:t>
            </a:r>
          </a:p>
        </p:txBody>
      </p:sp>
      <p:sp>
        <p:nvSpPr>
          <p:cNvPr id="27" name="TextBox 26"/>
          <p:cNvSpPr txBox="1"/>
          <p:nvPr/>
        </p:nvSpPr>
        <p:spPr>
          <a:xfrm>
            <a:off x="10706100" y="3214687"/>
            <a:ext cx="628650" cy="190500"/>
          </a:xfrm>
          <a:prstGeom prst="rect">
            <a:avLst/>
          </a:prstGeom>
          <a:noFill/>
        </p:spPr>
        <p:txBody>
          <a:bodyPr wrap="none" lIns="0" tIns="0" rIns="0" bIns="0" anchor="t">
            <a:spAutoFit/>
          </a:bodyPr>
          <a:lstStyle/>
          <a:p>
            <a:pPr algn="l"/>
            <a:r>
              <a:rPr sz="1200" b="1" i="0" u="none">
                <a:solidFill>
                  <a:srgbClr val="0F172A"/>
                </a:solidFill>
                <a:latin typeface="Inter"/>
              </a:rPr>
              <a:t>65%</a:t>
            </a:r>
          </a:p>
        </p:txBody>
      </p:sp>
      <p:sp>
        <p:nvSpPr>
          <p:cNvPr id="28" name="TextBox 27"/>
          <p:cNvSpPr txBox="1"/>
          <p:nvPr/>
        </p:nvSpPr>
        <p:spPr>
          <a:xfrm>
            <a:off x="7269509" y="3786187"/>
            <a:ext cx="2333625" cy="190500"/>
          </a:xfrm>
          <a:prstGeom prst="rect">
            <a:avLst/>
          </a:prstGeom>
          <a:noFill/>
        </p:spPr>
        <p:txBody>
          <a:bodyPr wrap="none" lIns="0" tIns="0" rIns="0" bIns="0" anchor="t">
            <a:spAutoFit/>
          </a:bodyPr>
          <a:lstStyle/>
          <a:p>
            <a:pPr algn="l"/>
            <a:r>
              <a:rPr sz="1200" b="1" i="0" u="none">
                <a:solidFill>
                  <a:srgbClr val="1E293B"/>
                </a:solidFill>
                <a:latin typeface="Inter"/>
              </a:rPr>
              <a:t>Mạng xã hội (Tham khảo)</a:t>
            </a:r>
          </a:p>
        </p:txBody>
      </p:sp>
      <p:sp>
        <p:nvSpPr>
          <p:cNvPr id="29" name="TextBox 28"/>
          <p:cNvSpPr txBox="1"/>
          <p:nvPr/>
        </p:nvSpPr>
        <p:spPr>
          <a:xfrm>
            <a:off x="10706100" y="3786187"/>
            <a:ext cx="628650" cy="190500"/>
          </a:xfrm>
          <a:prstGeom prst="rect">
            <a:avLst/>
          </a:prstGeom>
          <a:noFill/>
        </p:spPr>
        <p:txBody>
          <a:bodyPr wrap="none" lIns="0" tIns="0" rIns="0" bIns="0" anchor="t">
            <a:spAutoFit/>
          </a:bodyPr>
          <a:lstStyle/>
          <a:p>
            <a:pPr algn="l"/>
            <a:r>
              <a:rPr sz="1200" b="1" i="0" u="none">
                <a:solidFill>
                  <a:srgbClr val="0F172A"/>
                </a:solidFill>
                <a:latin typeface="Inter"/>
              </a:rPr>
              <a:t>35%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6086475" y="1928812"/>
            <a:ext cx="5343525" cy="3000375"/>
          </a:xfrm>
          <a:prstGeom prst="roundRect">
            <a:avLst>
              <a:gd name="adj" fmla="val 380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2000" y="4710112"/>
            <a:ext cx="4562475" cy="92958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2000" y="4710112"/>
            <a:ext cx="38100" cy="92958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77000" y="3233737"/>
            <a:ext cx="4562475" cy="228600"/>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77000" y="4071937"/>
            <a:ext cx="4562475" cy="228600"/>
          </a:xfrm>
          <a:prstGeom prst="roundRect">
            <a:avLst>
              <a:gd name="adj" fmla="val 50000"/>
            </a:avLst>
          </a:prstGeom>
          <a:solidFill>
            <a:srgbClr val="F1F5F9"/>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77000" y="3233737"/>
            <a:ext cx="684311" cy="228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86525" y="4081462"/>
            <a:ext cx="3543746" cy="20955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2"/>
          <a:stretch>
            <a:fillRect/>
          </a:stretch>
        </p:blipFill>
        <p:spPr>
          <a:xfrm>
            <a:off x="9410700" y="4395787"/>
            <a:ext cx="133350" cy="133350"/>
          </a:xfrm>
          <a:prstGeom prst="rect">
            <a:avLst/>
          </a:prstGeom>
        </p:spPr>
      </p:pic>
      <p:sp>
        <p:nvSpPr>
          <p:cNvPr id="10" name="TextBox 9"/>
          <p:cNvSpPr txBox="1"/>
          <p:nvPr/>
        </p:nvSpPr>
        <p:spPr>
          <a:xfrm>
            <a:off x="762000" y="1218307"/>
            <a:ext cx="5703093" cy="161925"/>
          </a:xfrm>
          <a:prstGeom prst="rect">
            <a:avLst/>
          </a:prstGeom>
          <a:noFill/>
        </p:spPr>
        <p:txBody>
          <a:bodyPr wrap="none" lIns="0" tIns="0" rIns="0" bIns="0" anchor="t">
            <a:spAutoFit/>
          </a:bodyPr>
          <a:lstStyle/>
          <a:p>
            <a:pPr algn="l"/>
            <a:r>
              <a:rPr sz="1050" b="1" i="0" u="none">
                <a:solidFill>
                  <a:srgbClr val="64748B"/>
                </a:solidFill>
                <a:latin typeface="Inter"/>
              </a:rPr>
              <a:t>BƯỚC 3</a:t>
            </a:r>
          </a:p>
        </p:txBody>
      </p:sp>
      <p:sp>
        <p:nvSpPr>
          <p:cNvPr id="11" name="TextBox 10"/>
          <p:cNvSpPr txBox="1"/>
          <p:nvPr/>
        </p:nvSpPr>
        <p:spPr>
          <a:xfrm>
            <a:off x="762000" y="1532632"/>
            <a:ext cx="4890611" cy="1005780"/>
          </a:xfrm>
          <a:prstGeom prst="rect">
            <a:avLst/>
          </a:prstGeom>
          <a:noFill/>
        </p:spPr>
        <p:txBody>
          <a:bodyPr wrap="square" lIns="0" tIns="0" rIns="0" bIns="0" anchor="t">
            <a:spAutoFit/>
          </a:bodyPr>
          <a:lstStyle/>
          <a:p>
            <a:pPr algn="l">
              <a:lnSpc>
                <a:spcPts val="3959"/>
              </a:lnSpc>
            </a:pPr>
            <a:r>
              <a:rPr sz="3300" b="1" i="0" u="none">
                <a:solidFill>
                  <a:srgbClr val="0F172A"/>
                </a:solidFill>
                <a:latin typeface="Space Grotesk"/>
              </a:rPr>
              <a:t>Kiểm Soát Rủi Ro Bằng Mạng Bayes</a:t>
            </a:r>
          </a:p>
        </p:txBody>
      </p:sp>
      <p:sp>
        <p:nvSpPr>
          <p:cNvPr id="12" name="TextBox 11"/>
          <p:cNvSpPr txBox="1"/>
          <p:nvPr/>
        </p:nvSpPr>
        <p:spPr>
          <a:xfrm>
            <a:off x="5764113" y="2319337"/>
            <a:ext cx="5988248" cy="228600"/>
          </a:xfrm>
          <a:prstGeom prst="rect">
            <a:avLst/>
          </a:prstGeom>
          <a:noFill/>
        </p:spPr>
        <p:txBody>
          <a:bodyPr wrap="none" lIns="0" tIns="0" rIns="0" bIns="0" anchor="t">
            <a:spAutoFit/>
          </a:bodyPr>
          <a:lstStyle/>
          <a:p>
            <a:pPr algn="ctr">
              <a:lnSpc>
                <a:spcPts val="1800"/>
              </a:lnSpc>
            </a:pPr>
            <a:r>
              <a:rPr sz="1500" b="1" i="0" u="none">
                <a:solidFill>
                  <a:srgbClr val="64748B"/>
                </a:solidFill>
                <a:latin typeface="Space Grotesk"/>
              </a:rPr>
              <a:t>Đo Lường Mức Độ Chắc Chắn (Variance)</a:t>
            </a:r>
          </a:p>
        </p:txBody>
      </p:sp>
      <p:sp>
        <p:nvSpPr>
          <p:cNvPr id="13" name="TextBox 12"/>
          <p:cNvSpPr txBox="1"/>
          <p:nvPr/>
        </p:nvSpPr>
        <p:spPr>
          <a:xfrm>
            <a:off x="762000" y="2843212"/>
            <a:ext cx="5988248"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Kỹ Thuật Lấy Mẫu Ngẫu Nhiên</a:t>
            </a:r>
          </a:p>
        </p:txBody>
      </p:sp>
      <p:sp>
        <p:nvSpPr>
          <p:cNvPr id="14" name="TextBox 13"/>
          <p:cNvSpPr txBox="1"/>
          <p:nvPr/>
        </p:nvSpPr>
        <p:spPr>
          <a:xfrm>
            <a:off x="762000" y="3148012"/>
            <a:ext cx="4657725" cy="400050"/>
          </a:xfrm>
          <a:prstGeom prst="rect">
            <a:avLst/>
          </a:prstGeom>
          <a:noFill/>
        </p:spPr>
        <p:txBody>
          <a:bodyPr wrap="square" lIns="0" tIns="0" rIns="0" bIns="0" anchor="t">
            <a:spAutoFit/>
          </a:bodyPr>
          <a:lstStyle/>
          <a:p>
            <a:pPr algn="l"/>
            <a:r>
              <a:rPr sz="1350" b="0" i="0" u="none">
                <a:solidFill>
                  <a:srgbClr val="475569"/>
                </a:solidFill>
                <a:latin typeface="Inter"/>
              </a:rPr>
              <a:t>Tạo sự thay đổi ngẫu nhiên nhỏ để kiểm tra độ ổn định quyết định của AI.</a:t>
            </a:r>
          </a:p>
        </p:txBody>
      </p:sp>
      <p:sp>
        <p:nvSpPr>
          <p:cNvPr id="15" name="TextBox 14"/>
          <p:cNvSpPr txBox="1"/>
          <p:nvPr/>
        </p:nvSpPr>
        <p:spPr>
          <a:xfrm>
            <a:off x="762000" y="3776662"/>
            <a:ext cx="5988248"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100 Lần Kiểm Tra / Nến</a:t>
            </a:r>
          </a:p>
        </p:txBody>
      </p:sp>
      <p:sp>
        <p:nvSpPr>
          <p:cNvPr id="16" name="TextBox 15"/>
          <p:cNvSpPr txBox="1"/>
          <p:nvPr/>
        </p:nvSpPr>
        <p:spPr>
          <a:xfrm>
            <a:off x="762000" y="4081462"/>
            <a:ext cx="4657725" cy="400050"/>
          </a:xfrm>
          <a:prstGeom prst="rect">
            <a:avLst/>
          </a:prstGeom>
          <a:noFill/>
        </p:spPr>
        <p:txBody>
          <a:bodyPr wrap="square" lIns="0" tIns="0" rIns="0" bIns="0" anchor="t">
            <a:spAutoFit/>
          </a:bodyPr>
          <a:lstStyle/>
          <a:p>
            <a:pPr algn="l"/>
            <a:r>
              <a:rPr sz="1350" b="0" i="0" u="none">
                <a:solidFill>
                  <a:srgbClr val="475569"/>
                </a:solidFill>
                <a:latin typeface="Inter"/>
              </a:rPr>
              <a:t>Đo lường mức độ không chắc chắn (Variance) khi AI đưa ra dự đoán.</a:t>
            </a:r>
          </a:p>
        </p:txBody>
      </p:sp>
      <p:sp>
        <p:nvSpPr>
          <p:cNvPr id="17" name="TextBox 16"/>
          <p:cNvSpPr txBox="1"/>
          <p:nvPr/>
        </p:nvSpPr>
        <p:spPr>
          <a:xfrm>
            <a:off x="952500" y="4862512"/>
            <a:ext cx="5538192" cy="205680"/>
          </a:xfrm>
          <a:prstGeom prst="rect">
            <a:avLst/>
          </a:prstGeom>
          <a:noFill/>
        </p:spPr>
        <p:txBody>
          <a:bodyPr wrap="none" lIns="0" tIns="0" rIns="0" bIns="0" anchor="t">
            <a:spAutoFit/>
          </a:bodyPr>
          <a:lstStyle/>
          <a:p>
            <a:pPr algn="l">
              <a:lnSpc>
                <a:spcPts val="1620"/>
              </a:lnSpc>
            </a:pPr>
            <a:r>
              <a:rPr sz="1350" b="1" i="0" u="none">
                <a:solidFill>
                  <a:srgbClr val="991B1B"/>
                </a:solidFill>
                <a:latin typeface="Space Grotesk"/>
              </a:rPr>
              <a:t>Ngưỡng An Toàn Chặn Lệnh</a:t>
            </a:r>
          </a:p>
        </p:txBody>
      </p:sp>
      <p:sp>
        <p:nvSpPr>
          <p:cNvPr id="18" name="TextBox 17"/>
          <p:cNvSpPr txBox="1"/>
          <p:nvPr/>
        </p:nvSpPr>
        <p:spPr>
          <a:xfrm>
            <a:off x="952500" y="5106292"/>
            <a:ext cx="4314825" cy="381000"/>
          </a:xfrm>
          <a:prstGeom prst="rect">
            <a:avLst/>
          </a:prstGeom>
          <a:noFill/>
        </p:spPr>
        <p:txBody>
          <a:bodyPr wrap="square" lIns="0" tIns="0" rIns="0" bIns="0" anchor="t">
            <a:spAutoFit/>
          </a:bodyPr>
          <a:lstStyle/>
          <a:p>
            <a:pPr algn="l"/>
            <a:r>
              <a:rPr sz="1200" b="0" i="0" u="none">
                <a:solidFill>
                  <a:srgbClr val="7F1D1D"/>
                </a:solidFill>
                <a:latin typeface="Inter"/>
              </a:rPr>
              <a:t>Rủi ro &gt; 0.5: Tín hiệu không rõ ràng. Ép lệnh về HOLD (Đứng ngoài).</a:t>
            </a:r>
          </a:p>
        </p:txBody>
      </p:sp>
      <p:sp>
        <p:nvSpPr>
          <p:cNvPr id="19" name="TextBox 18"/>
          <p:cNvSpPr txBox="1"/>
          <p:nvPr/>
        </p:nvSpPr>
        <p:spPr>
          <a:xfrm>
            <a:off x="5336381" y="4376737"/>
            <a:ext cx="5703093" cy="161925"/>
          </a:xfrm>
          <a:prstGeom prst="rect">
            <a:avLst/>
          </a:prstGeom>
          <a:noFill/>
        </p:spPr>
        <p:txBody>
          <a:bodyPr wrap="none" lIns="133350" tIns="0" rIns="0" bIns="0" anchor="t">
            <a:spAutoFit/>
          </a:bodyPr>
          <a:lstStyle/>
          <a:p>
            <a:pPr algn="r"/>
            <a:r>
              <a:rPr sz="1050" b="1" i="0" u="none">
                <a:solidFill>
                  <a:srgbClr val="EF4444"/>
                </a:solidFill>
                <a:latin typeface="Inter"/>
              </a:rPr>
              <a:t>Đóng băng lệnh rủi ro</a:t>
            </a:r>
          </a:p>
        </p:txBody>
      </p:sp>
      <p:sp>
        <p:nvSpPr>
          <p:cNvPr id="20" name="TextBox 19"/>
          <p:cNvSpPr txBox="1"/>
          <p:nvPr/>
        </p:nvSpPr>
        <p:spPr>
          <a:xfrm>
            <a:off x="6477000" y="2928937"/>
            <a:ext cx="2238375" cy="190500"/>
          </a:xfrm>
          <a:prstGeom prst="rect">
            <a:avLst/>
          </a:prstGeom>
          <a:noFill/>
        </p:spPr>
        <p:txBody>
          <a:bodyPr wrap="none" lIns="0" tIns="0" rIns="0" bIns="0" anchor="t">
            <a:spAutoFit/>
          </a:bodyPr>
          <a:lstStyle/>
          <a:p>
            <a:pPr algn="l"/>
            <a:r>
              <a:rPr sz="1200" b="1" i="0" u="none">
                <a:solidFill>
                  <a:srgbClr val="1E293B"/>
                </a:solidFill>
                <a:latin typeface="Inter"/>
              </a:rPr>
              <a:t>Trạng thái HOLD đề xuất</a:t>
            </a:r>
          </a:p>
        </p:txBody>
      </p:sp>
      <p:sp>
        <p:nvSpPr>
          <p:cNvPr id="21" name="TextBox 20"/>
          <p:cNvSpPr txBox="1"/>
          <p:nvPr/>
        </p:nvSpPr>
        <p:spPr>
          <a:xfrm>
            <a:off x="9496425" y="2928937"/>
            <a:ext cx="1928812" cy="190500"/>
          </a:xfrm>
          <a:prstGeom prst="rect">
            <a:avLst/>
          </a:prstGeom>
          <a:noFill/>
        </p:spPr>
        <p:txBody>
          <a:bodyPr wrap="none" lIns="0" tIns="0" rIns="0" bIns="0" anchor="t">
            <a:spAutoFit/>
          </a:bodyPr>
          <a:lstStyle/>
          <a:p>
            <a:pPr algn="l"/>
            <a:r>
              <a:rPr sz="1200" b="1" i="0" u="none">
                <a:solidFill>
                  <a:srgbClr val="0F172A"/>
                </a:solidFill>
                <a:latin typeface="Inter"/>
              </a:rPr>
              <a:t>Rủi ro: 0.15 (An toàn)</a:t>
            </a:r>
          </a:p>
        </p:txBody>
      </p:sp>
      <p:sp>
        <p:nvSpPr>
          <p:cNvPr id="22" name="TextBox 21"/>
          <p:cNvSpPr txBox="1"/>
          <p:nvPr/>
        </p:nvSpPr>
        <p:spPr>
          <a:xfrm>
            <a:off x="6477000" y="3767137"/>
            <a:ext cx="2107406" cy="190500"/>
          </a:xfrm>
          <a:prstGeom prst="rect">
            <a:avLst/>
          </a:prstGeom>
          <a:noFill/>
        </p:spPr>
        <p:txBody>
          <a:bodyPr wrap="none" lIns="0" tIns="0" rIns="0" bIns="0" anchor="t">
            <a:spAutoFit/>
          </a:bodyPr>
          <a:lstStyle/>
          <a:p>
            <a:pPr algn="l"/>
            <a:r>
              <a:rPr sz="1200" b="1" i="0" u="none">
                <a:solidFill>
                  <a:srgbClr val="1E293B"/>
                </a:solidFill>
                <a:latin typeface="Inter"/>
              </a:rPr>
              <a:t>Trạng thái BUY đề xuất</a:t>
            </a:r>
          </a:p>
        </p:txBody>
      </p:sp>
      <p:sp>
        <p:nvSpPr>
          <p:cNvPr id="23" name="TextBox 22"/>
          <p:cNvSpPr txBox="1"/>
          <p:nvPr/>
        </p:nvSpPr>
        <p:spPr>
          <a:xfrm>
            <a:off x="9001125" y="3767137"/>
            <a:ext cx="2547937" cy="190500"/>
          </a:xfrm>
          <a:prstGeom prst="rect">
            <a:avLst/>
          </a:prstGeom>
          <a:noFill/>
        </p:spPr>
        <p:txBody>
          <a:bodyPr wrap="none" lIns="0" tIns="0" rIns="0" bIns="0" anchor="t">
            <a:spAutoFit/>
          </a:bodyPr>
          <a:lstStyle/>
          <a:p>
            <a:pPr algn="l"/>
            <a:r>
              <a:rPr sz="1200" b="1" i="0" u="none">
                <a:solidFill>
                  <a:srgbClr val="EF4444"/>
                </a:solidFill>
                <a:latin typeface="Inter"/>
              </a:rPr>
              <a:t>Rủi ro: 0.78 (Không rõ ràng)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62000" y="1838325"/>
            <a:ext cx="3352800" cy="4410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419600" y="1838325"/>
            <a:ext cx="3352800" cy="4410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77200" y="1838325"/>
            <a:ext cx="3352800" cy="4410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1838325"/>
            <a:ext cx="3352800" cy="1905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419600" y="1838325"/>
            <a:ext cx="3352800" cy="1905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77200" y="1838325"/>
            <a:ext cx="3352800" cy="1905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2000" y="609600"/>
            <a:ext cx="11430000" cy="161925"/>
          </a:xfrm>
          <a:prstGeom prst="rect">
            <a:avLst/>
          </a:prstGeom>
          <a:noFill/>
        </p:spPr>
        <p:txBody>
          <a:bodyPr wrap="none" lIns="0" tIns="0" rIns="0" bIns="0" anchor="t">
            <a:spAutoFit/>
          </a:bodyPr>
          <a:lstStyle/>
          <a:p>
            <a:pPr algn="l"/>
            <a:r>
              <a:rPr sz="1050" b="1" i="0" u="none">
                <a:solidFill>
                  <a:srgbClr val="64748B"/>
                </a:solidFill>
                <a:latin typeface="Inter"/>
              </a:rPr>
              <a:t>BƯỚC 4</a:t>
            </a:r>
          </a:p>
        </p:txBody>
      </p:sp>
      <p:sp>
        <p:nvSpPr>
          <p:cNvPr id="9" name="TextBox 8"/>
          <p:cNvSpPr txBox="1"/>
          <p:nvPr/>
        </p:nvSpPr>
        <p:spPr>
          <a:xfrm>
            <a:off x="762000" y="923925"/>
            <a:ext cx="11430000" cy="457200"/>
          </a:xfrm>
          <a:prstGeom prst="rect">
            <a:avLst/>
          </a:prstGeom>
          <a:noFill/>
        </p:spPr>
        <p:txBody>
          <a:bodyPr wrap="none" lIns="0" tIns="0" rIns="0" bIns="0" anchor="t">
            <a:spAutoFit/>
          </a:bodyPr>
          <a:lstStyle/>
          <a:p>
            <a:pPr algn="l">
              <a:lnSpc>
                <a:spcPts val="3600"/>
              </a:lnSpc>
            </a:pPr>
            <a:r>
              <a:rPr sz="3000" b="1" i="0" u="none">
                <a:solidFill>
                  <a:srgbClr val="0F172A"/>
                </a:solidFill>
                <a:latin typeface="Space Grotesk"/>
              </a:rPr>
              <a:t>Hệ Thống Quản Trị Rủi Ro An Toàn</a:t>
            </a:r>
          </a:p>
        </p:txBody>
      </p:sp>
      <p:sp>
        <p:nvSpPr>
          <p:cNvPr id="10" name="TextBox 9"/>
          <p:cNvSpPr txBox="1"/>
          <p:nvPr/>
        </p:nvSpPr>
        <p:spPr>
          <a:xfrm>
            <a:off x="762000" y="2238375"/>
            <a:ext cx="4191000" cy="561975"/>
          </a:xfrm>
          <a:prstGeom prst="rect">
            <a:avLst/>
          </a:prstGeom>
          <a:noFill/>
        </p:spPr>
        <p:txBody>
          <a:bodyPr wrap="none" lIns="0" tIns="0" rIns="0" bIns="0" anchor="t">
            <a:spAutoFit/>
          </a:bodyPr>
          <a:lstStyle/>
          <a:p>
            <a:pPr algn="l"/>
            <a:r>
              <a:rPr sz="3600" b="1" i="0" u="none">
                <a:solidFill>
                  <a:srgbClr val="0F172A"/>
                </a:solidFill>
                <a:latin typeface="Inter"/>
              </a:rPr>
              <a:t>20%</a:t>
            </a:r>
          </a:p>
        </p:txBody>
      </p:sp>
      <p:sp>
        <p:nvSpPr>
          <p:cNvPr id="11" name="TextBox 10"/>
          <p:cNvSpPr txBox="1"/>
          <p:nvPr/>
        </p:nvSpPr>
        <p:spPr>
          <a:xfrm>
            <a:off x="762000" y="2952750"/>
            <a:ext cx="4400550" cy="274290"/>
          </a:xfrm>
          <a:prstGeom prst="rect">
            <a:avLst/>
          </a:prstGeom>
          <a:noFill/>
        </p:spPr>
        <p:txBody>
          <a:bodyPr wrap="none" lIns="0" tIns="0" rIns="0" bIns="0" anchor="t">
            <a:spAutoFit/>
          </a:bodyPr>
          <a:lstStyle/>
          <a:p>
            <a:pPr algn="l">
              <a:lnSpc>
                <a:spcPts val="2160"/>
              </a:lnSpc>
            </a:pPr>
            <a:r>
              <a:rPr sz="1800" b="1" i="0" u="none">
                <a:solidFill>
                  <a:srgbClr val="0F172A"/>
                </a:solidFill>
                <a:latin typeface="Space Grotesk"/>
              </a:rPr>
              <a:t>Ngân Sách Phân Bổ</a:t>
            </a:r>
          </a:p>
        </p:txBody>
      </p:sp>
      <p:sp>
        <p:nvSpPr>
          <p:cNvPr id="12" name="TextBox 11"/>
          <p:cNvSpPr txBox="1"/>
          <p:nvPr/>
        </p:nvSpPr>
        <p:spPr>
          <a:xfrm>
            <a:off x="762000" y="3379440"/>
            <a:ext cx="3448050" cy="771525"/>
          </a:xfrm>
          <a:prstGeom prst="rect">
            <a:avLst/>
          </a:prstGeom>
          <a:noFill/>
        </p:spPr>
        <p:txBody>
          <a:bodyPr wrap="square" lIns="0" tIns="0" rIns="0" bIns="0" anchor="t">
            <a:spAutoFit/>
          </a:bodyPr>
          <a:lstStyle/>
          <a:p>
            <a:pPr algn="l">
              <a:lnSpc>
                <a:spcPts val="2025"/>
              </a:lnSpc>
            </a:pPr>
            <a:r>
              <a:rPr sz="1350" b="0" i="0" u="none">
                <a:solidFill>
                  <a:srgbClr val="475569"/>
                </a:solidFill>
                <a:latin typeface="Inter"/>
              </a:rPr>
              <a:t>Khóa giao dịch nếu vốn dưới 2.000.000 VNĐ. Chỉ được trích tối đa 20% tổng tài sản để mở một vị thế.</a:t>
            </a:r>
          </a:p>
        </p:txBody>
      </p:sp>
      <p:sp>
        <p:nvSpPr>
          <p:cNvPr id="13" name="TextBox 12"/>
          <p:cNvSpPr txBox="1"/>
          <p:nvPr/>
        </p:nvSpPr>
        <p:spPr>
          <a:xfrm>
            <a:off x="4419600" y="2238375"/>
            <a:ext cx="4191000" cy="561975"/>
          </a:xfrm>
          <a:prstGeom prst="rect">
            <a:avLst/>
          </a:prstGeom>
          <a:noFill/>
        </p:spPr>
        <p:txBody>
          <a:bodyPr wrap="none" lIns="0" tIns="0" rIns="0" bIns="0" anchor="t">
            <a:spAutoFit/>
          </a:bodyPr>
          <a:lstStyle/>
          <a:p>
            <a:pPr algn="l"/>
            <a:r>
              <a:rPr sz="3600" b="1" i="0" u="none">
                <a:solidFill>
                  <a:srgbClr val="0F172A"/>
                </a:solidFill>
                <a:latin typeface="Inter"/>
              </a:rPr>
              <a:t>Lọc</a:t>
            </a:r>
          </a:p>
        </p:txBody>
      </p:sp>
      <p:sp>
        <p:nvSpPr>
          <p:cNvPr id="14" name="TextBox 13"/>
          <p:cNvSpPr txBox="1"/>
          <p:nvPr/>
        </p:nvSpPr>
        <p:spPr>
          <a:xfrm>
            <a:off x="4419600" y="2952750"/>
            <a:ext cx="4400550" cy="274290"/>
          </a:xfrm>
          <a:prstGeom prst="rect">
            <a:avLst/>
          </a:prstGeom>
          <a:noFill/>
        </p:spPr>
        <p:txBody>
          <a:bodyPr wrap="none" lIns="0" tIns="0" rIns="0" bIns="0" anchor="t">
            <a:spAutoFit/>
          </a:bodyPr>
          <a:lstStyle/>
          <a:p>
            <a:pPr algn="l">
              <a:lnSpc>
                <a:spcPts val="2160"/>
              </a:lnSpc>
            </a:pPr>
            <a:r>
              <a:rPr sz="1800" b="1" i="0" u="none">
                <a:solidFill>
                  <a:srgbClr val="0F172A"/>
                </a:solidFill>
                <a:latin typeface="Space Grotesk"/>
              </a:rPr>
              <a:t>Lợi Nhuận Kỳ Vọng</a:t>
            </a:r>
          </a:p>
        </p:txBody>
      </p:sp>
      <p:sp>
        <p:nvSpPr>
          <p:cNvPr id="15" name="TextBox 14"/>
          <p:cNvSpPr txBox="1"/>
          <p:nvPr/>
        </p:nvSpPr>
        <p:spPr>
          <a:xfrm>
            <a:off x="4419600" y="3379440"/>
            <a:ext cx="3448050" cy="771525"/>
          </a:xfrm>
          <a:prstGeom prst="rect">
            <a:avLst/>
          </a:prstGeom>
          <a:noFill/>
        </p:spPr>
        <p:txBody>
          <a:bodyPr wrap="square" lIns="0" tIns="0" rIns="0" bIns="0" anchor="t">
            <a:spAutoFit/>
          </a:bodyPr>
          <a:lstStyle/>
          <a:p>
            <a:pPr algn="l">
              <a:lnSpc>
                <a:spcPts val="2025"/>
              </a:lnSpc>
            </a:pPr>
            <a:r>
              <a:rPr sz="1350" b="0" i="0" u="none">
                <a:solidFill>
                  <a:srgbClr val="475569"/>
                </a:solidFill>
                <a:latin typeface="Inter"/>
              </a:rPr>
              <a:t>Đã trừ sẵn phí giao dịch 2 chiều. Chỉ đặt lệnh khi xác suất và lợi nhuận kỳ vọng lớn hơn mức rủi ro.</a:t>
            </a:r>
          </a:p>
        </p:txBody>
      </p:sp>
      <p:sp>
        <p:nvSpPr>
          <p:cNvPr id="16" name="TextBox 15"/>
          <p:cNvSpPr txBox="1"/>
          <p:nvPr/>
        </p:nvSpPr>
        <p:spPr>
          <a:xfrm>
            <a:off x="8077200" y="2238375"/>
            <a:ext cx="4114800" cy="561975"/>
          </a:xfrm>
          <a:prstGeom prst="rect">
            <a:avLst/>
          </a:prstGeom>
          <a:noFill/>
        </p:spPr>
        <p:txBody>
          <a:bodyPr wrap="none" lIns="0" tIns="0" rIns="0" bIns="0" anchor="t">
            <a:spAutoFit/>
          </a:bodyPr>
          <a:lstStyle/>
          <a:p>
            <a:pPr algn="l"/>
            <a:r>
              <a:rPr sz="3600" b="1" i="0" u="none">
                <a:solidFill>
                  <a:srgbClr val="EF4444"/>
                </a:solidFill>
                <a:latin typeface="Inter"/>
              </a:rPr>
              <a:t>-7%</a:t>
            </a:r>
          </a:p>
        </p:txBody>
      </p:sp>
      <p:sp>
        <p:nvSpPr>
          <p:cNvPr id="17" name="TextBox 16"/>
          <p:cNvSpPr txBox="1"/>
          <p:nvPr/>
        </p:nvSpPr>
        <p:spPr>
          <a:xfrm>
            <a:off x="8077200" y="2952750"/>
            <a:ext cx="4114800" cy="274290"/>
          </a:xfrm>
          <a:prstGeom prst="rect">
            <a:avLst/>
          </a:prstGeom>
          <a:noFill/>
        </p:spPr>
        <p:txBody>
          <a:bodyPr wrap="none" lIns="0" tIns="0" rIns="0" bIns="0" anchor="t">
            <a:spAutoFit/>
          </a:bodyPr>
          <a:lstStyle/>
          <a:p>
            <a:pPr algn="l">
              <a:lnSpc>
                <a:spcPts val="2160"/>
              </a:lnSpc>
            </a:pPr>
            <a:r>
              <a:rPr sz="1800" b="1" i="0" u="none">
                <a:solidFill>
                  <a:srgbClr val="0F172A"/>
                </a:solidFill>
                <a:latin typeface="Space Grotesk"/>
              </a:rPr>
              <a:t>Tự Động Cắt Lỗ</a:t>
            </a:r>
          </a:p>
        </p:txBody>
      </p:sp>
      <p:sp>
        <p:nvSpPr>
          <p:cNvPr id="18" name="TextBox 17"/>
          <p:cNvSpPr txBox="1"/>
          <p:nvPr/>
        </p:nvSpPr>
        <p:spPr>
          <a:xfrm>
            <a:off x="8077200" y="3379440"/>
            <a:ext cx="3448050" cy="771525"/>
          </a:xfrm>
          <a:prstGeom prst="rect">
            <a:avLst/>
          </a:prstGeom>
          <a:noFill/>
        </p:spPr>
        <p:txBody>
          <a:bodyPr wrap="square" lIns="0" tIns="0" rIns="0" bIns="0" anchor="t">
            <a:spAutoFit/>
          </a:bodyPr>
          <a:lstStyle/>
          <a:p>
            <a:pPr algn="l">
              <a:lnSpc>
                <a:spcPts val="2025"/>
              </a:lnSpc>
            </a:pPr>
            <a:r>
              <a:rPr sz="1350" b="0" i="0" u="none">
                <a:solidFill>
                  <a:srgbClr val="475569"/>
                </a:solidFill>
                <a:latin typeface="Inter"/>
              </a:rPr>
              <a:t>Cắt lỗ cứng tuyệt đối tại -7%. Cắt lỗ sớm linh hoạt nếu xu hướng giá xấu đi nhanh chóng.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62000" y="1838325"/>
            <a:ext cx="5262562" cy="441007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15037" y="1838325"/>
            <a:ext cx="9525" cy="44100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62000" y="609600"/>
            <a:ext cx="11430000" cy="161925"/>
          </a:xfrm>
          <a:prstGeom prst="rect">
            <a:avLst/>
          </a:prstGeom>
          <a:noFill/>
        </p:spPr>
        <p:txBody>
          <a:bodyPr wrap="none" lIns="0" tIns="0" rIns="0" bIns="0" anchor="t">
            <a:spAutoFit/>
          </a:bodyPr>
          <a:lstStyle/>
          <a:p>
            <a:pPr algn="l"/>
            <a:r>
              <a:rPr sz="1050" b="1" i="0" u="none">
                <a:solidFill>
                  <a:srgbClr val="64748B"/>
                </a:solidFill>
                <a:latin typeface="Inter"/>
              </a:rPr>
              <a:t>BƯỚC 5</a:t>
            </a:r>
          </a:p>
        </p:txBody>
      </p:sp>
      <p:sp>
        <p:nvSpPr>
          <p:cNvPr id="5" name="TextBox 4"/>
          <p:cNvSpPr txBox="1"/>
          <p:nvPr/>
        </p:nvSpPr>
        <p:spPr>
          <a:xfrm>
            <a:off x="762000" y="923925"/>
            <a:ext cx="11430000" cy="457200"/>
          </a:xfrm>
          <a:prstGeom prst="rect">
            <a:avLst/>
          </a:prstGeom>
          <a:noFill/>
        </p:spPr>
        <p:txBody>
          <a:bodyPr wrap="none" lIns="0" tIns="0" rIns="0" bIns="0" anchor="t">
            <a:spAutoFit/>
          </a:bodyPr>
          <a:lstStyle/>
          <a:p>
            <a:pPr algn="l">
              <a:lnSpc>
                <a:spcPts val="3600"/>
              </a:lnSpc>
            </a:pPr>
            <a:r>
              <a:rPr sz="3000" b="1" i="0" u="none">
                <a:solidFill>
                  <a:srgbClr val="0F172A"/>
                </a:solidFill>
                <a:latin typeface="Space Grotesk"/>
              </a:rPr>
              <a:t>Mô Hình AI Tự Học Giao Dịch (Học Tăng Cường)</a:t>
            </a:r>
          </a:p>
        </p:txBody>
      </p:sp>
      <p:sp>
        <p:nvSpPr>
          <p:cNvPr id="6" name="TextBox 5"/>
          <p:cNvSpPr txBox="1"/>
          <p:nvPr/>
        </p:nvSpPr>
        <p:spPr>
          <a:xfrm>
            <a:off x="762000" y="2867917"/>
            <a:ext cx="6294536" cy="274290"/>
          </a:xfrm>
          <a:prstGeom prst="rect">
            <a:avLst/>
          </a:prstGeom>
          <a:noFill/>
        </p:spPr>
        <p:txBody>
          <a:bodyPr wrap="none" lIns="0" tIns="0" rIns="0" bIns="0" anchor="t">
            <a:spAutoFit/>
          </a:bodyPr>
          <a:lstStyle/>
          <a:p>
            <a:pPr algn="l">
              <a:lnSpc>
                <a:spcPts val="2160"/>
              </a:lnSpc>
            </a:pPr>
            <a:r>
              <a:rPr sz="1800" b="1" i="0" u="none">
                <a:solidFill>
                  <a:srgbClr val="0F172A"/>
                </a:solidFill>
                <a:latin typeface="Space Grotesk"/>
              </a:rPr>
              <a:t>Thông Số Huấn Luyện</a:t>
            </a:r>
          </a:p>
        </p:txBody>
      </p:sp>
      <p:sp>
        <p:nvSpPr>
          <p:cNvPr id="7" name="TextBox 6"/>
          <p:cNvSpPr txBox="1"/>
          <p:nvPr/>
        </p:nvSpPr>
        <p:spPr>
          <a:xfrm>
            <a:off x="6634162" y="2919412"/>
            <a:ext cx="5557837" cy="274290"/>
          </a:xfrm>
          <a:prstGeom prst="rect">
            <a:avLst/>
          </a:prstGeom>
          <a:noFill/>
        </p:spPr>
        <p:txBody>
          <a:bodyPr wrap="none" lIns="0" tIns="0" rIns="0" bIns="0" anchor="t">
            <a:spAutoFit/>
          </a:bodyPr>
          <a:lstStyle/>
          <a:p>
            <a:pPr algn="l">
              <a:lnSpc>
                <a:spcPts val="2160"/>
              </a:lnSpc>
            </a:pPr>
            <a:r>
              <a:rPr sz="1800" b="1" i="0" u="none">
                <a:solidFill>
                  <a:srgbClr val="0F172A"/>
                </a:solidFill>
                <a:latin typeface="Space Grotesk"/>
              </a:rPr>
              <a:t>Cơ Chế Tránh Việc Học Vẹt</a:t>
            </a:r>
          </a:p>
        </p:txBody>
      </p:sp>
      <p:sp>
        <p:nvSpPr>
          <p:cNvPr id="8" name="TextBox 7"/>
          <p:cNvSpPr txBox="1"/>
          <p:nvPr/>
        </p:nvSpPr>
        <p:spPr>
          <a:xfrm>
            <a:off x="762000" y="3447008"/>
            <a:ext cx="4891087" cy="438150"/>
          </a:xfrm>
          <a:prstGeom prst="rect">
            <a:avLst/>
          </a:prstGeom>
          <a:noFill/>
        </p:spPr>
        <p:txBody>
          <a:bodyPr wrap="square" lIns="0" tIns="0" rIns="0" bIns="0" anchor="t">
            <a:spAutoFit/>
          </a:bodyPr>
          <a:lstStyle/>
          <a:p>
            <a:pPr algn="l"/>
            <a:r>
              <a:rPr sz="1350" b="1" i="0" u="none">
                <a:solidFill>
                  <a:srgbClr val="1E293B"/>
                </a:solidFill>
                <a:latin typeface="Inter"/>
              </a:rPr>
              <a:t>Kiến trúc Mô hình </a:t>
            </a:r>
            <a:r>
              <a:rPr sz="1350" b="1" i="0" u="none">
                <a:solidFill>
                  <a:srgbClr val="475569"/>
                </a:solidFill>
                <a:latin typeface="Inter"/>
              </a:rPr>
              <a:t>Sử dụng thuật toán PPO ổn định và linh hoạt.</a:t>
            </a:r>
          </a:p>
        </p:txBody>
      </p:sp>
      <p:sp>
        <p:nvSpPr>
          <p:cNvPr id="9" name="TextBox 8"/>
          <p:cNvSpPr txBox="1"/>
          <p:nvPr/>
        </p:nvSpPr>
        <p:spPr>
          <a:xfrm>
            <a:off x="762000" y="4113758"/>
            <a:ext cx="4891087" cy="438150"/>
          </a:xfrm>
          <a:prstGeom prst="rect">
            <a:avLst/>
          </a:prstGeom>
          <a:noFill/>
        </p:spPr>
        <p:txBody>
          <a:bodyPr wrap="square" lIns="0" tIns="0" rIns="0" bIns="0" anchor="t">
            <a:spAutoFit/>
          </a:bodyPr>
          <a:lstStyle/>
          <a:p>
            <a:pPr algn="l"/>
            <a:r>
              <a:rPr sz="1350" b="1" i="0" u="none">
                <a:solidFill>
                  <a:srgbClr val="1E293B"/>
                </a:solidFill>
                <a:latin typeface="Inter"/>
              </a:rPr>
              <a:t>Quy mô thực hành </a:t>
            </a:r>
            <a:r>
              <a:rPr sz="1350" b="1" i="0" u="none">
                <a:solidFill>
                  <a:srgbClr val="475569"/>
                </a:solidFill>
                <a:latin typeface="Inter"/>
              </a:rPr>
              <a:t>50,000 vòng lặp học hỏi trên 50 cổ phiếu khác nhau.</a:t>
            </a:r>
          </a:p>
        </p:txBody>
      </p:sp>
      <p:sp>
        <p:nvSpPr>
          <p:cNvPr id="10" name="TextBox 9"/>
          <p:cNvSpPr txBox="1"/>
          <p:nvPr/>
        </p:nvSpPr>
        <p:spPr>
          <a:xfrm>
            <a:off x="762000" y="4780508"/>
            <a:ext cx="4891087" cy="438150"/>
          </a:xfrm>
          <a:prstGeom prst="rect">
            <a:avLst/>
          </a:prstGeom>
          <a:noFill/>
        </p:spPr>
        <p:txBody>
          <a:bodyPr wrap="square" lIns="0" tIns="0" rIns="0" bIns="0" anchor="t">
            <a:spAutoFit/>
          </a:bodyPr>
          <a:lstStyle/>
          <a:p>
            <a:pPr algn="l"/>
            <a:r>
              <a:rPr sz="1350" b="1" i="0" u="none">
                <a:solidFill>
                  <a:srgbClr val="1E293B"/>
                </a:solidFill>
                <a:latin typeface="Inter"/>
              </a:rPr>
              <a:t>Các quyết định cho phép </a:t>
            </a:r>
            <a:r>
              <a:rPr sz="1350" b="1" i="0" u="none">
                <a:solidFill>
                  <a:srgbClr val="475569"/>
                </a:solidFill>
                <a:latin typeface="Inter"/>
              </a:rPr>
              <a:t>0: ĐỨNG NGOÀI | 1: MUA VÀO | 2: CHỐT LỜI/CẮT LỖ.</a:t>
            </a:r>
          </a:p>
        </p:txBody>
      </p:sp>
      <p:sp>
        <p:nvSpPr>
          <p:cNvPr id="11" name="TextBox 10"/>
          <p:cNvSpPr txBox="1"/>
          <p:nvPr/>
        </p:nvSpPr>
        <p:spPr>
          <a:xfrm>
            <a:off x="6634162" y="3498502"/>
            <a:ext cx="5557837" cy="205680"/>
          </a:xfrm>
          <a:prstGeom prst="rect">
            <a:avLst/>
          </a:prstGeom>
          <a:noFill/>
        </p:spPr>
        <p:txBody>
          <a:bodyPr wrap="none" lIns="0" tIns="0" rIns="0" bIns="0" anchor="t">
            <a:spAutoFit/>
          </a:bodyPr>
          <a:lstStyle/>
          <a:p>
            <a:pPr algn="l">
              <a:lnSpc>
                <a:spcPts val="1620"/>
              </a:lnSpc>
            </a:pPr>
            <a:r>
              <a:rPr sz="1350" b="1" i="0" u="none">
                <a:solidFill>
                  <a:srgbClr val="0F172A"/>
                </a:solidFill>
                <a:latin typeface="Space Grotesk"/>
              </a:rPr>
              <a:t>Đảo mã cổ phiếu liên tục</a:t>
            </a:r>
          </a:p>
        </p:txBody>
      </p:sp>
      <p:sp>
        <p:nvSpPr>
          <p:cNvPr id="12" name="TextBox 11"/>
          <p:cNvSpPr txBox="1"/>
          <p:nvPr/>
        </p:nvSpPr>
        <p:spPr>
          <a:xfrm>
            <a:off x="6634162" y="3780383"/>
            <a:ext cx="4891087" cy="400050"/>
          </a:xfrm>
          <a:prstGeom prst="rect">
            <a:avLst/>
          </a:prstGeom>
          <a:noFill/>
        </p:spPr>
        <p:txBody>
          <a:bodyPr wrap="square" lIns="0" tIns="0" rIns="0" bIns="0" anchor="t">
            <a:spAutoFit/>
          </a:bodyPr>
          <a:lstStyle/>
          <a:p>
            <a:pPr algn="l"/>
            <a:r>
              <a:rPr sz="1350" b="0" i="0" u="none">
                <a:solidFill>
                  <a:srgbClr val="475569"/>
                </a:solidFill>
                <a:latin typeface="Inter"/>
              </a:rPr>
              <a:t>Đưa AI vào các mã chứng khoán ngẫu nhiên để rèn tính thích nghi, thay vì học thuộc lòng đường giá quá khứ.</a:t>
            </a:r>
          </a:p>
        </p:txBody>
      </p:sp>
      <p:sp>
        <p:nvSpPr>
          <p:cNvPr id="13" name="TextBox 12"/>
          <p:cNvSpPr txBox="1"/>
          <p:nvPr/>
        </p:nvSpPr>
        <p:spPr>
          <a:xfrm>
            <a:off x="6634162" y="4485233"/>
            <a:ext cx="5557837" cy="205680"/>
          </a:xfrm>
          <a:prstGeom prst="rect">
            <a:avLst/>
          </a:prstGeom>
          <a:noFill/>
        </p:spPr>
        <p:txBody>
          <a:bodyPr wrap="none" lIns="0" tIns="0" rIns="0" bIns="0" anchor="t">
            <a:spAutoFit/>
          </a:bodyPr>
          <a:lstStyle/>
          <a:p>
            <a:pPr algn="l">
              <a:lnSpc>
                <a:spcPts val="1620"/>
              </a:lnSpc>
            </a:pPr>
            <a:r>
              <a:rPr sz="1350" b="1" i="0" u="none">
                <a:solidFill>
                  <a:srgbClr val="EF4444"/>
                </a:solidFill>
                <a:latin typeface="Space Grotesk"/>
              </a:rPr>
              <a:t>Cơ chế bảo vệ vốn khắt khe</a:t>
            </a:r>
          </a:p>
        </p:txBody>
      </p:sp>
      <p:sp>
        <p:nvSpPr>
          <p:cNvPr id="14" name="TextBox 13"/>
          <p:cNvSpPr txBox="1"/>
          <p:nvPr/>
        </p:nvSpPr>
        <p:spPr>
          <a:xfrm>
            <a:off x="6634162" y="4767113"/>
            <a:ext cx="4891087" cy="400050"/>
          </a:xfrm>
          <a:prstGeom prst="rect">
            <a:avLst/>
          </a:prstGeom>
          <a:noFill/>
        </p:spPr>
        <p:txBody>
          <a:bodyPr wrap="square" lIns="0" tIns="0" rIns="0" bIns="0" anchor="t">
            <a:spAutoFit/>
          </a:bodyPr>
          <a:lstStyle/>
          <a:p>
            <a:pPr algn="l"/>
            <a:r>
              <a:rPr sz="1350" b="0" i="0" u="none">
                <a:solidFill>
                  <a:srgbClr val="475569"/>
                </a:solidFill>
                <a:latin typeface="Inter"/>
              </a:rPr>
              <a:t>Trừ điểm rất nặng nếu AI để lỗ quá 20% vốn. Điều này giúp AI hình thành phản xạ cắt lỗ sớm khi thị trường xấu.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62000" y="609600"/>
            <a:ext cx="11430000" cy="161925"/>
          </a:xfrm>
          <a:prstGeom prst="rect">
            <a:avLst/>
          </a:prstGeom>
          <a:noFill/>
        </p:spPr>
        <p:txBody>
          <a:bodyPr wrap="none" lIns="0" tIns="0" rIns="0" bIns="0" anchor="t">
            <a:spAutoFit/>
          </a:bodyPr>
          <a:lstStyle/>
          <a:p>
            <a:pPr algn="l"/>
            <a:r>
              <a:rPr sz="1050" b="1" i="0" u="none">
                <a:solidFill>
                  <a:srgbClr val="64748B"/>
                </a:solidFill>
                <a:latin typeface="Inter"/>
              </a:rPr>
              <a:t>BƯỚC 6</a:t>
            </a:r>
          </a:p>
        </p:txBody>
      </p:sp>
      <p:sp>
        <p:nvSpPr>
          <p:cNvPr id="3" name="TextBox 2"/>
          <p:cNvSpPr txBox="1"/>
          <p:nvPr/>
        </p:nvSpPr>
        <p:spPr>
          <a:xfrm>
            <a:off x="762000" y="923925"/>
            <a:ext cx="11430000" cy="457200"/>
          </a:xfrm>
          <a:prstGeom prst="rect">
            <a:avLst/>
          </a:prstGeom>
          <a:noFill/>
        </p:spPr>
        <p:txBody>
          <a:bodyPr wrap="none" lIns="0" tIns="0" rIns="0" bIns="0" anchor="t">
            <a:spAutoFit/>
          </a:bodyPr>
          <a:lstStyle/>
          <a:p>
            <a:pPr algn="l">
              <a:lnSpc>
                <a:spcPts val="3600"/>
              </a:lnSpc>
            </a:pPr>
            <a:r>
              <a:rPr sz="3000" b="1" i="0" u="none">
                <a:solidFill>
                  <a:srgbClr val="0F172A"/>
                </a:solidFill>
                <a:latin typeface="Space Grotesk"/>
              </a:rPr>
              <a:t>Kết Quả Kiểm Thử Thực Tế</a:t>
            </a:r>
          </a:p>
        </p:txBody>
      </p:sp>
      <p:sp>
        <p:nvSpPr>
          <p:cNvPr id="4" name="TextBox 3"/>
          <p:cNvSpPr txBox="1"/>
          <p:nvPr/>
        </p:nvSpPr>
        <p:spPr>
          <a:xfrm>
            <a:off x="762000" y="1533525"/>
            <a:ext cx="11430000" cy="200025"/>
          </a:xfrm>
          <a:prstGeom prst="rect">
            <a:avLst/>
          </a:prstGeom>
          <a:noFill/>
        </p:spPr>
        <p:txBody>
          <a:bodyPr wrap="none" lIns="0" tIns="0" rIns="0" bIns="0" anchor="t">
            <a:spAutoFit/>
          </a:bodyPr>
          <a:lstStyle/>
          <a:p>
            <a:pPr algn="l"/>
            <a:r>
              <a:rPr sz="1350" b="0" i="0" u="none">
                <a:solidFill>
                  <a:srgbClr val="64748B"/>
                </a:solidFill>
                <a:latin typeface="Inter"/>
              </a:rPr>
              <a:t>Đánh giá dựa trên dữ liệu tương lai độc lập (2024 - 2026).</a:t>
            </a:r>
          </a:p>
        </p:txBody>
      </p:sp>
      <p:sp>
        <p:nvSpPr>
          <p:cNvPr id="5" name="TextBox 4"/>
          <p:cNvSpPr txBox="1"/>
          <p:nvPr/>
        </p:nvSpPr>
        <p:spPr>
          <a:xfrm>
            <a:off x="3619500" y="2252662"/>
            <a:ext cx="6191250" cy="1524000"/>
          </a:xfrm>
          <a:prstGeom prst="rect">
            <a:avLst/>
          </a:prstGeom>
          <a:noFill/>
        </p:spPr>
        <p:txBody>
          <a:bodyPr wrap="none" lIns="0" tIns="0" rIns="0" bIns="0" anchor="t">
            <a:spAutoFit/>
          </a:bodyPr>
          <a:lstStyle/>
          <a:p>
            <a:pPr algn="l">
              <a:lnSpc>
                <a:spcPts val="12000"/>
              </a:lnSpc>
            </a:pPr>
            <a:r>
              <a:rPr sz="12000" b="1" i="0" u="none">
                <a:solidFill>
                  <a:srgbClr val="0F172A"/>
                </a:solidFill>
                <a:latin typeface="Inter"/>
              </a:rPr>
              <a:t>68.5%</a:t>
            </a:r>
          </a:p>
        </p:txBody>
      </p:sp>
      <p:sp>
        <p:nvSpPr>
          <p:cNvPr id="6" name="TextBox 5"/>
          <p:cNvSpPr txBox="1"/>
          <p:nvPr/>
        </p:nvSpPr>
        <p:spPr>
          <a:xfrm>
            <a:off x="4724400" y="4005262"/>
            <a:ext cx="3429000" cy="276225"/>
          </a:xfrm>
          <a:prstGeom prst="rect">
            <a:avLst/>
          </a:prstGeom>
          <a:noFill/>
        </p:spPr>
        <p:txBody>
          <a:bodyPr wrap="none" lIns="0" tIns="0" rIns="0" bIns="0" anchor="t">
            <a:spAutoFit/>
          </a:bodyPr>
          <a:lstStyle/>
          <a:p>
            <a:pPr algn="l"/>
            <a:r>
              <a:rPr sz="1800" b="0" i="0" u="none">
                <a:solidFill>
                  <a:srgbClr val="475569"/>
                </a:solidFill>
                <a:latin typeface="Inter"/>
              </a:rPr>
              <a:t>Tỷ lệ lệnh giao dịch có lãi</a:t>
            </a:r>
          </a:p>
        </p:txBody>
      </p:sp>
      <p:sp>
        <p:nvSpPr>
          <p:cNvPr id="7" name="TextBox 6"/>
          <p:cNvSpPr txBox="1"/>
          <p:nvPr/>
        </p:nvSpPr>
        <p:spPr>
          <a:xfrm>
            <a:off x="1659731" y="4891087"/>
            <a:ext cx="2690812" cy="561975"/>
          </a:xfrm>
          <a:prstGeom prst="rect">
            <a:avLst/>
          </a:prstGeom>
          <a:noFill/>
        </p:spPr>
        <p:txBody>
          <a:bodyPr wrap="none" lIns="0" tIns="0" rIns="0" bIns="0" anchor="t">
            <a:spAutoFit/>
          </a:bodyPr>
          <a:lstStyle/>
          <a:p>
            <a:pPr algn="ctr"/>
            <a:r>
              <a:rPr sz="3600" b="1" i="0" u="none">
                <a:solidFill>
                  <a:srgbClr val="0F172A"/>
                </a:solidFill>
                <a:latin typeface="Inter"/>
              </a:rPr>
              <a:t>80%</a:t>
            </a:r>
          </a:p>
        </p:txBody>
      </p:sp>
      <p:sp>
        <p:nvSpPr>
          <p:cNvPr id="8" name="TextBox 7"/>
          <p:cNvSpPr txBox="1"/>
          <p:nvPr/>
        </p:nvSpPr>
        <p:spPr>
          <a:xfrm>
            <a:off x="1659731" y="5529262"/>
            <a:ext cx="2690812" cy="200025"/>
          </a:xfrm>
          <a:prstGeom prst="rect">
            <a:avLst/>
          </a:prstGeom>
          <a:noFill/>
        </p:spPr>
        <p:txBody>
          <a:bodyPr wrap="none" lIns="0" tIns="0" rIns="0" bIns="0" anchor="t">
            <a:spAutoFit/>
          </a:bodyPr>
          <a:lstStyle/>
          <a:p>
            <a:pPr algn="ctr"/>
            <a:r>
              <a:rPr sz="1350" b="0" i="0" u="none">
                <a:solidFill>
                  <a:srgbClr val="64748B"/>
                </a:solidFill>
                <a:latin typeface="Inter"/>
              </a:rPr>
              <a:t>Cổ phiếu đem lại lợi nhuận</a:t>
            </a:r>
          </a:p>
        </p:txBody>
      </p:sp>
      <p:sp>
        <p:nvSpPr>
          <p:cNvPr id="9" name="TextBox 8"/>
          <p:cNvSpPr txBox="1"/>
          <p:nvPr/>
        </p:nvSpPr>
        <p:spPr>
          <a:xfrm>
            <a:off x="4498181" y="4891087"/>
            <a:ext cx="3452812" cy="561975"/>
          </a:xfrm>
          <a:prstGeom prst="rect">
            <a:avLst/>
          </a:prstGeom>
          <a:noFill/>
        </p:spPr>
        <p:txBody>
          <a:bodyPr wrap="none" lIns="0" tIns="0" rIns="0" bIns="0" anchor="t">
            <a:spAutoFit/>
          </a:bodyPr>
          <a:lstStyle/>
          <a:p>
            <a:pPr algn="ctr"/>
            <a:r>
              <a:rPr sz="3600" b="1" i="0" u="none">
                <a:solidFill>
                  <a:srgbClr val="0F172A"/>
                </a:solidFill>
                <a:latin typeface="Inter"/>
              </a:rPr>
              <a:t>70%</a:t>
            </a:r>
          </a:p>
        </p:txBody>
      </p:sp>
      <p:sp>
        <p:nvSpPr>
          <p:cNvPr id="10" name="TextBox 9"/>
          <p:cNvSpPr txBox="1"/>
          <p:nvPr/>
        </p:nvSpPr>
        <p:spPr>
          <a:xfrm>
            <a:off x="4498181" y="5529262"/>
            <a:ext cx="3452812" cy="200025"/>
          </a:xfrm>
          <a:prstGeom prst="rect">
            <a:avLst/>
          </a:prstGeom>
          <a:noFill/>
        </p:spPr>
        <p:txBody>
          <a:bodyPr wrap="none" lIns="0" tIns="0" rIns="0" bIns="0" anchor="t">
            <a:spAutoFit/>
          </a:bodyPr>
          <a:lstStyle/>
          <a:p>
            <a:pPr algn="ctr"/>
            <a:r>
              <a:rPr sz="1350" b="0" i="0" u="none">
                <a:solidFill>
                  <a:srgbClr val="64748B"/>
                </a:solidFill>
                <a:latin typeface="Inter"/>
              </a:rPr>
              <a:t>Thời gian AI đứng ngoài thị trường</a:t>
            </a:r>
          </a:p>
        </p:txBody>
      </p:sp>
      <p:sp>
        <p:nvSpPr>
          <p:cNvPr id="11" name="TextBox 10"/>
          <p:cNvSpPr txBox="1"/>
          <p:nvPr/>
        </p:nvSpPr>
        <p:spPr>
          <a:xfrm>
            <a:off x="8130778" y="4891087"/>
            <a:ext cx="2369343" cy="561975"/>
          </a:xfrm>
          <a:prstGeom prst="rect">
            <a:avLst/>
          </a:prstGeom>
          <a:noFill/>
        </p:spPr>
        <p:txBody>
          <a:bodyPr wrap="none" lIns="0" tIns="0" rIns="0" bIns="0" anchor="t">
            <a:spAutoFit/>
          </a:bodyPr>
          <a:lstStyle/>
          <a:p>
            <a:pPr algn="ctr"/>
            <a:r>
              <a:rPr sz="3600" b="1" i="0" u="none">
                <a:solidFill>
                  <a:srgbClr val="EF4444"/>
                </a:solidFill>
                <a:latin typeface="Inter"/>
              </a:rPr>
              <a:t>-7%</a:t>
            </a:r>
          </a:p>
        </p:txBody>
      </p:sp>
      <p:sp>
        <p:nvSpPr>
          <p:cNvPr id="12" name="TextBox 11"/>
          <p:cNvSpPr txBox="1"/>
          <p:nvPr/>
        </p:nvSpPr>
        <p:spPr>
          <a:xfrm>
            <a:off x="8130778" y="5529262"/>
            <a:ext cx="2369343" cy="200025"/>
          </a:xfrm>
          <a:prstGeom prst="rect">
            <a:avLst/>
          </a:prstGeom>
          <a:noFill/>
        </p:spPr>
        <p:txBody>
          <a:bodyPr wrap="none" lIns="0" tIns="0" rIns="0" bIns="0" anchor="t">
            <a:spAutoFit/>
          </a:bodyPr>
          <a:lstStyle/>
          <a:p>
            <a:pPr algn="ctr"/>
            <a:r>
              <a:rPr sz="1350" b="0" i="0" u="none">
                <a:solidFill>
                  <a:srgbClr val="64748B"/>
                </a:solidFill>
                <a:latin typeface="Inter"/>
              </a:rPr>
              <a:t>Giới hạn rủi ro tuyệt đối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762000" y="3033712"/>
            <a:ext cx="304800" cy="304800"/>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3910012"/>
            <a:ext cx="304800" cy="304800"/>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62000" y="4786312"/>
            <a:ext cx="304800" cy="304800"/>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5387280" y="1143000"/>
            <a:ext cx="6042719" cy="4572000"/>
          </a:xfrm>
          <a:prstGeom prst="rect">
            <a:avLst/>
          </a:prstGeom>
        </p:spPr>
      </p:pic>
      <p:sp>
        <p:nvSpPr>
          <p:cNvPr id="7" name="TextBox 6"/>
          <p:cNvSpPr txBox="1"/>
          <p:nvPr/>
        </p:nvSpPr>
        <p:spPr>
          <a:xfrm>
            <a:off x="762000" y="1423987"/>
            <a:ext cx="5019600" cy="161925"/>
          </a:xfrm>
          <a:prstGeom prst="rect">
            <a:avLst/>
          </a:prstGeom>
          <a:noFill/>
        </p:spPr>
        <p:txBody>
          <a:bodyPr wrap="none" lIns="0" tIns="0" rIns="0" bIns="0" anchor="t">
            <a:spAutoFit/>
          </a:bodyPr>
          <a:lstStyle/>
          <a:p>
            <a:pPr algn="l"/>
            <a:r>
              <a:rPr sz="1050" b="1" i="0" u="none">
                <a:solidFill>
                  <a:srgbClr val="64748B"/>
                </a:solidFill>
                <a:latin typeface="Inter"/>
              </a:rPr>
              <a:t>GIAO DIỆN ỨNG DỤNG</a:t>
            </a:r>
          </a:p>
        </p:txBody>
      </p:sp>
      <p:sp>
        <p:nvSpPr>
          <p:cNvPr id="8" name="TextBox 7"/>
          <p:cNvSpPr txBox="1"/>
          <p:nvPr/>
        </p:nvSpPr>
        <p:spPr>
          <a:xfrm>
            <a:off x="762000" y="1738312"/>
            <a:ext cx="4316476" cy="923330"/>
          </a:xfrm>
          <a:prstGeom prst="rect">
            <a:avLst/>
          </a:prstGeom>
          <a:noFill/>
        </p:spPr>
        <p:txBody>
          <a:bodyPr wrap="square" lIns="0" tIns="0" rIns="0" bIns="0" anchor="t">
            <a:spAutoFit/>
          </a:bodyPr>
          <a:lstStyle/>
          <a:p>
            <a:pPr algn="l">
              <a:lnSpc>
                <a:spcPts val="3600"/>
              </a:lnSpc>
            </a:pPr>
            <a:r>
              <a:rPr sz="3000" b="1" i="0" u="none">
                <a:solidFill>
                  <a:srgbClr val="0F172A"/>
                </a:solidFill>
                <a:latin typeface="Space Grotesk"/>
              </a:rPr>
              <a:t>Bảng Quản Lý </a:t>
            </a:r>
            <a:r>
              <a:rPr lang="vi-VN" sz="3000" b="1" i="0" u="none">
                <a:solidFill>
                  <a:srgbClr val="0F172A"/>
                </a:solidFill>
                <a:latin typeface="Space Grotesk"/>
              </a:rPr>
              <a:t>và Huấn Luyện</a:t>
            </a:r>
            <a:endParaRPr sz="3000" b="1" i="0" u="none">
              <a:solidFill>
                <a:srgbClr val="0F172A"/>
              </a:solidFill>
              <a:latin typeface="Space Grotesk"/>
            </a:endParaRPr>
          </a:p>
        </p:txBody>
      </p:sp>
      <p:sp>
        <p:nvSpPr>
          <p:cNvPr id="9" name="TextBox 8"/>
          <p:cNvSpPr txBox="1"/>
          <p:nvPr/>
        </p:nvSpPr>
        <p:spPr>
          <a:xfrm>
            <a:off x="619125" y="3033712"/>
            <a:ext cx="590550" cy="304800"/>
          </a:xfrm>
          <a:prstGeom prst="rect">
            <a:avLst/>
          </a:prstGeom>
          <a:noFill/>
        </p:spPr>
        <p:txBody>
          <a:bodyPr wrap="square" lIns="0" tIns="0" rIns="0" bIns="0" anchor="ctr">
            <a:spAutoFit/>
          </a:bodyPr>
          <a:lstStyle/>
          <a:p>
            <a:pPr algn="ctr"/>
            <a:r>
              <a:rPr sz="1050" b="1" i="0" u="none">
                <a:solidFill>
                  <a:srgbClr val="0F172A"/>
                </a:solidFill>
                <a:latin typeface="Inter"/>
              </a:rPr>
              <a:t>1</a:t>
            </a:r>
          </a:p>
        </p:txBody>
      </p:sp>
      <p:sp>
        <p:nvSpPr>
          <p:cNvPr id="10" name="TextBox 9"/>
          <p:cNvSpPr txBox="1"/>
          <p:nvPr/>
        </p:nvSpPr>
        <p:spPr>
          <a:xfrm>
            <a:off x="619125" y="3910012"/>
            <a:ext cx="590550" cy="304800"/>
          </a:xfrm>
          <a:prstGeom prst="rect">
            <a:avLst/>
          </a:prstGeom>
          <a:noFill/>
        </p:spPr>
        <p:txBody>
          <a:bodyPr wrap="square" lIns="0" tIns="0" rIns="0" bIns="0" anchor="ctr">
            <a:spAutoFit/>
          </a:bodyPr>
          <a:lstStyle/>
          <a:p>
            <a:pPr algn="ctr"/>
            <a:r>
              <a:rPr sz="1050" b="1" i="0" u="none">
                <a:solidFill>
                  <a:srgbClr val="0F172A"/>
                </a:solidFill>
                <a:latin typeface="Inter"/>
              </a:rPr>
              <a:t>2</a:t>
            </a:r>
          </a:p>
        </p:txBody>
      </p:sp>
      <p:sp>
        <p:nvSpPr>
          <p:cNvPr id="11" name="TextBox 10"/>
          <p:cNvSpPr txBox="1"/>
          <p:nvPr/>
        </p:nvSpPr>
        <p:spPr>
          <a:xfrm>
            <a:off x="619125" y="4786312"/>
            <a:ext cx="590550" cy="304800"/>
          </a:xfrm>
          <a:prstGeom prst="rect">
            <a:avLst/>
          </a:prstGeom>
          <a:noFill/>
        </p:spPr>
        <p:txBody>
          <a:bodyPr wrap="square" lIns="0" tIns="0" rIns="0" bIns="0" anchor="ctr">
            <a:spAutoFit/>
          </a:bodyPr>
          <a:lstStyle/>
          <a:p>
            <a:pPr algn="ctr"/>
            <a:r>
              <a:rPr sz="1050" b="1" i="0" u="none">
                <a:solidFill>
                  <a:srgbClr val="0F172A"/>
                </a:solidFill>
                <a:latin typeface="Inter"/>
              </a:rPr>
              <a:t>3</a:t>
            </a:r>
          </a:p>
        </p:txBody>
      </p:sp>
      <p:sp>
        <p:nvSpPr>
          <p:cNvPr id="12" name="TextBox 11"/>
          <p:cNvSpPr txBox="1"/>
          <p:nvPr/>
        </p:nvSpPr>
        <p:spPr>
          <a:xfrm>
            <a:off x="1219200" y="3033712"/>
            <a:ext cx="4670505"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Giám Sát Trực Tiếp</a:t>
            </a:r>
          </a:p>
        </p:txBody>
      </p:sp>
      <p:sp>
        <p:nvSpPr>
          <p:cNvPr id="13" name="TextBox 12"/>
          <p:cNvSpPr txBox="1"/>
          <p:nvPr/>
        </p:nvSpPr>
        <p:spPr>
          <a:xfrm>
            <a:off x="1219200" y="3300412"/>
            <a:ext cx="3653730" cy="381000"/>
          </a:xfrm>
          <a:prstGeom prst="rect">
            <a:avLst/>
          </a:prstGeom>
          <a:noFill/>
        </p:spPr>
        <p:txBody>
          <a:bodyPr wrap="square" lIns="0" tIns="0" rIns="0" bIns="0" anchor="t">
            <a:spAutoFit/>
          </a:bodyPr>
          <a:lstStyle/>
          <a:p>
            <a:pPr algn="l"/>
            <a:r>
              <a:rPr sz="1200" b="0" i="0" u="none">
                <a:solidFill>
                  <a:srgbClr val="475569"/>
                </a:solidFill>
                <a:latin typeface="Inter"/>
              </a:rPr>
              <a:t>Chỉ số quan trọng: Tổng vốn, Tỷ lệ thắng, Cảnh báo rủi ro, Phân tích tin tức.</a:t>
            </a:r>
          </a:p>
        </p:txBody>
      </p:sp>
      <p:sp>
        <p:nvSpPr>
          <p:cNvPr id="14" name="TextBox 13"/>
          <p:cNvSpPr txBox="1"/>
          <p:nvPr/>
        </p:nvSpPr>
        <p:spPr>
          <a:xfrm>
            <a:off x="1219200" y="3910012"/>
            <a:ext cx="4670505"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Huấn Luyện Ngầm (MLOps)</a:t>
            </a:r>
          </a:p>
        </p:txBody>
      </p:sp>
      <p:sp>
        <p:nvSpPr>
          <p:cNvPr id="15" name="TextBox 14"/>
          <p:cNvSpPr txBox="1"/>
          <p:nvPr/>
        </p:nvSpPr>
        <p:spPr>
          <a:xfrm>
            <a:off x="1219200" y="4176712"/>
            <a:ext cx="3653730" cy="381000"/>
          </a:xfrm>
          <a:prstGeom prst="rect">
            <a:avLst/>
          </a:prstGeom>
          <a:noFill/>
        </p:spPr>
        <p:txBody>
          <a:bodyPr wrap="square" lIns="0" tIns="0" rIns="0" bIns="0" anchor="t">
            <a:spAutoFit/>
          </a:bodyPr>
          <a:lstStyle/>
          <a:p>
            <a:pPr algn="l"/>
            <a:r>
              <a:rPr sz="1200" b="0" i="0" u="none">
                <a:solidFill>
                  <a:srgbClr val="475569"/>
                </a:solidFill>
                <a:latin typeface="Inter"/>
              </a:rPr>
              <a:t>Tự động học thêm dữ liệu mới mà không làm chậm quá trình giao dịch hiện tại.</a:t>
            </a:r>
          </a:p>
        </p:txBody>
      </p:sp>
      <p:sp>
        <p:nvSpPr>
          <p:cNvPr id="16" name="TextBox 15"/>
          <p:cNvSpPr txBox="1"/>
          <p:nvPr/>
        </p:nvSpPr>
        <p:spPr>
          <a:xfrm>
            <a:off x="1219200" y="4786312"/>
            <a:ext cx="4670505"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Nhật Ký Giao Dịch Rõ Ràng</a:t>
            </a:r>
          </a:p>
        </p:txBody>
      </p:sp>
      <p:sp>
        <p:nvSpPr>
          <p:cNvPr id="17" name="TextBox 16"/>
          <p:cNvSpPr txBox="1"/>
          <p:nvPr/>
        </p:nvSpPr>
        <p:spPr>
          <a:xfrm>
            <a:off x="1219200" y="5053012"/>
            <a:ext cx="3653730" cy="381000"/>
          </a:xfrm>
          <a:prstGeom prst="rect">
            <a:avLst/>
          </a:prstGeom>
          <a:noFill/>
        </p:spPr>
        <p:txBody>
          <a:bodyPr wrap="square" lIns="0" tIns="0" rIns="0" bIns="0" anchor="t">
            <a:spAutoFit/>
          </a:bodyPr>
          <a:lstStyle/>
          <a:p>
            <a:pPr algn="l"/>
            <a:r>
              <a:rPr sz="1200" b="0" i="0" u="none">
                <a:solidFill>
                  <a:srgbClr val="475569"/>
                </a:solidFill>
                <a:latin typeface="Inter"/>
              </a:rPr>
              <a:t>AI tự động viết và giải thích lý do vào lệnh bằng ngôn ngữ tiếng Việt dễ hiểu.</a:t>
            </a:r>
          </a:p>
        </p:txBody>
      </p:sp>
      <p:pic>
        <p:nvPicPr>
          <p:cNvPr id="19" name="Picture 18">
            <a:extLst>
              <a:ext uri="{FF2B5EF4-FFF2-40B4-BE49-F238E27FC236}">
                <a16:creationId xmlns:a16="http://schemas.microsoft.com/office/drawing/2014/main" id="{8AE78A48-AAE1-34A5-91AB-029909909690}"/>
              </a:ext>
            </a:extLst>
          </p:cNvPr>
          <p:cNvPicPr>
            <a:picLocks noChangeAspect="1"/>
          </p:cNvPicPr>
          <p:nvPr/>
        </p:nvPicPr>
        <p:blipFill>
          <a:blip r:embed="rId3"/>
          <a:srcRect l="1005" t="3574" r="29180" b="8316"/>
          <a:stretch>
            <a:fillRect/>
          </a:stretch>
        </p:blipFill>
        <p:spPr>
          <a:xfrm>
            <a:off x="5444457" y="1272385"/>
            <a:ext cx="6075732" cy="43132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58219" y="1142999"/>
            <a:ext cx="6579909" cy="4424363"/>
          </a:xfrm>
          <a:prstGeom prst="rect">
            <a:avLst/>
          </a:prstGeom>
        </p:spPr>
      </p:pic>
      <p:pic>
        <p:nvPicPr>
          <p:cNvPr id="4" name="Picture 3" descr="image.png"/>
          <p:cNvPicPr>
            <a:picLocks noChangeAspect="1"/>
          </p:cNvPicPr>
          <p:nvPr/>
        </p:nvPicPr>
        <p:blipFill>
          <a:blip r:embed="rId3"/>
          <a:stretch>
            <a:fillRect/>
          </a:stretch>
        </p:blipFill>
        <p:spPr>
          <a:xfrm>
            <a:off x="7414319" y="2919412"/>
            <a:ext cx="171450" cy="190500"/>
          </a:xfrm>
          <a:prstGeom prst="rect">
            <a:avLst/>
          </a:prstGeom>
        </p:spPr>
      </p:pic>
      <p:pic>
        <p:nvPicPr>
          <p:cNvPr id="5" name="Picture 4" descr="image.png"/>
          <p:cNvPicPr>
            <a:picLocks noChangeAspect="1"/>
          </p:cNvPicPr>
          <p:nvPr/>
        </p:nvPicPr>
        <p:blipFill>
          <a:blip r:embed="rId4"/>
          <a:stretch>
            <a:fillRect/>
          </a:stretch>
        </p:blipFill>
        <p:spPr>
          <a:xfrm>
            <a:off x="7414319" y="3910012"/>
            <a:ext cx="219075" cy="190500"/>
          </a:xfrm>
          <a:prstGeom prst="rect">
            <a:avLst/>
          </a:prstGeom>
        </p:spPr>
      </p:pic>
      <p:pic>
        <p:nvPicPr>
          <p:cNvPr id="6" name="Picture 5" descr="image.png"/>
          <p:cNvPicPr>
            <a:picLocks noChangeAspect="1"/>
          </p:cNvPicPr>
          <p:nvPr/>
        </p:nvPicPr>
        <p:blipFill>
          <a:blip r:embed="rId5"/>
          <a:stretch>
            <a:fillRect/>
          </a:stretch>
        </p:blipFill>
        <p:spPr>
          <a:xfrm>
            <a:off x="7414319" y="4900612"/>
            <a:ext cx="238125" cy="190500"/>
          </a:xfrm>
          <a:prstGeom prst="rect">
            <a:avLst/>
          </a:prstGeom>
        </p:spPr>
      </p:pic>
      <p:sp>
        <p:nvSpPr>
          <p:cNvPr id="7" name="TextBox 6"/>
          <p:cNvSpPr txBox="1"/>
          <p:nvPr/>
        </p:nvSpPr>
        <p:spPr>
          <a:xfrm>
            <a:off x="7414319" y="1290637"/>
            <a:ext cx="4777680" cy="161925"/>
          </a:xfrm>
          <a:prstGeom prst="rect">
            <a:avLst/>
          </a:prstGeom>
          <a:noFill/>
        </p:spPr>
        <p:txBody>
          <a:bodyPr wrap="none" lIns="0" tIns="0" rIns="0" bIns="0" anchor="t">
            <a:spAutoFit/>
          </a:bodyPr>
          <a:lstStyle/>
          <a:p>
            <a:pPr algn="l"/>
            <a:r>
              <a:rPr sz="1050" b="1" i="0" u="none">
                <a:solidFill>
                  <a:srgbClr val="64748B"/>
                </a:solidFill>
                <a:latin typeface="Inter"/>
              </a:rPr>
              <a:t>GIAO DIỆN ỨNG DỤNG</a:t>
            </a:r>
          </a:p>
        </p:txBody>
      </p:sp>
      <p:sp>
        <p:nvSpPr>
          <p:cNvPr id="8" name="TextBox 7"/>
          <p:cNvSpPr txBox="1"/>
          <p:nvPr/>
        </p:nvSpPr>
        <p:spPr>
          <a:xfrm>
            <a:off x="7414319" y="1604962"/>
            <a:ext cx="4316476" cy="914400"/>
          </a:xfrm>
          <a:prstGeom prst="rect">
            <a:avLst/>
          </a:prstGeom>
          <a:noFill/>
        </p:spPr>
        <p:txBody>
          <a:bodyPr wrap="square" lIns="0" tIns="0" rIns="0" bIns="0" anchor="t">
            <a:spAutoFit/>
          </a:bodyPr>
          <a:lstStyle/>
          <a:p>
            <a:pPr algn="l">
              <a:lnSpc>
                <a:spcPts val="3600"/>
              </a:lnSpc>
            </a:pPr>
            <a:r>
              <a:rPr sz="3000" b="1" i="0" u="none">
                <a:solidFill>
                  <a:srgbClr val="0F172A"/>
                </a:solidFill>
                <a:latin typeface="Space Grotesk"/>
              </a:rPr>
              <a:t>Phần Mềm Quản Lý</a:t>
            </a:r>
            <a:r>
              <a:rPr lang="vi-VN" sz="3000" b="1" i="0" u="none">
                <a:solidFill>
                  <a:srgbClr val="0F172A"/>
                </a:solidFill>
                <a:latin typeface="Space Grotesk"/>
              </a:rPr>
              <a:t> trên</a:t>
            </a:r>
            <a:r>
              <a:rPr sz="3000" b="1" i="0" u="none">
                <a:solidFill>
                  <a:srgbClr val="0F172A"/>
                </a:solidFill>
                <a:latin typeface="Space Grotesk"/>
              </a:rPr>
              <a:t> Máy Tính</a:t>
            </a:r>
          </a:p>
        </p:txBody>
      </p:sp>
      <p:sp>
        <p:nvSpPr>
          <p:cNvPr id="9" name="TextBox 8"/>
          <p:cNvSpPr txBox="1"/>
          <p:nvPr/>
        </p:nvSpPr>
        <p:spPr>
          <a:xfrm>
            <a:off x="7414319" y="2900362"/>
            <a:ext cx="4777680" cy="228600"/>
          </a:xfrm>
          <a:prstGeom prst="rect">
            <a:avLst/>
          </a:prstGeom>
          <a:noFill/>
        </p:spPr>
        <p:txBody>
          <a:bodyPr wrap="none" lIns="247650" tIns="0" rIns="0" bIns="0" anchor="t">
            <a:spAutoFit/>
          </a:bodyPr>
          <a:lstStyle/>
          <a:p>
            <a:pPr algn="l">
              <a:lnSpc>
                <a:spcPts val="1800"/>
              </a:lnSpc>
            </a:pPr>
            <a:r>
              <a:rPr sz="1500" b="1" i="0" u="none">
                <a:solidFill>
                  <a:srgbClr val="0F172A"/>
                </a:solidFill>
                <a:latin typeface="Space Grotesk"/>
              </a:rPr>
              <a:t>Cài Đặt Siêu Nhẹ</a:t>
            </a:r>
          </a:p>
        </p:txBody>
      </p:sp>
      <p:sp>
        <p:nvSpPr>
          <p:cNvPr id="10" name="TextBox 9"/>
          <p:cNvSpPr txBox="1"/>
          <p:nvPr/>
        </p:nvSpPr>
        <p:spPr>
          <a:xfrm>
            <a:off x="7414319" y="3205162"/>
            <a:ext cx="4110930" cy="381000"/>
          </a:xfrm>
          <a:prstGeom prst="rect">
            <a:avLst/>
          </a:prstGeom>
          <a:noFill/>
        </p:spPr>
        <p:txBody>
          <a:bodyPr wrap="square" lIns="0" tIns="0" rIns="0" bIns="0" anchor="t">
            <a:spAutoFit/>
          </a:bodyPr>
          <a:lstStyle/>
          <a:p>
            <a:pPr algn="l"/>
            <a:r>
              <a:rPr sz="1200" b="0" i="0" u="none">
                <a:solidFill>
                  <a:srgbClr val="475569"/>
                </a:solidFill>
                <a:latin typeface="Inter"/>
              </a:rPr>
              <a:t>Khởi động tức thì trong 1 giây, không yêu cầu thiết lập máy chủ mạng phức tạp.</a:t>
            </a:r>
          </a:p>
        </p:txBody>
      </p:sp>
      <p:sp>
        <p:nvSpPr>
          <p:cNvPr id="11" name="TextBox 10"/>
          <p:cNvSpPr txBox="1"/>
          <p:nvPr/>
        </p:nvSpPr>
        <p:spPr>
          <a:xfrm>
            <a:off x="7414319" y="3890962"/>
            <a:ext cx="4777680" cy="228600"/>
          </a:xfrm>
          <a:prstGeom prst="rect">
            <a:avLst/>
          </a:prstGeom>
          <a:noFill/>
        </p:spPr>
        <p:txBody>
          <a:bodyPr wrap="none" lIns="295275" tIns="0" rIns="0" bIns="0" anchor="t">
            <a:spAutoFit/>
          </a:bodyPr>
          <a:lstStyle/>
          <a:p>
            <a:pPr algn="l">
              <a:lnSpc>
                <a:spcPts val="1800"/>
              </a:lnSpc>
            </a:pPr>
            <a:r>
              <a:rPr sz="1500" b="1" i="0" u="none">
                <a:solidFill>
                  <a:srgbClr val="0F172A"/>
                </a:solidFill>
                <a:latin typeface="Space Grotesk"/>
              </a:rPr>
              <a:t>Hoạt Động Mượt Mà</a:t>
            </a:r>
          </a:p>
        </p:txBody>
      </p:sp>
      <p:sp>
        <p:nvSpPr>
          <p:cNvPr id="12" name="TextBox 11"/>
          <p:cNvSpPr txBox="1"/>
          <p:nvPr/>
        </p:nvSpPr>
        <p:spPr>
          <a:xfrm>
            <a:off x="7414319" y="4195762"/>
            <a:ext cx="4110930" cy="381000"/>
          </a:xfrm>
          <a:prstGeom prst="rect">
            <a:avLst/>
          </a:prstGeom>
          <a:noFill/>
        </p:spPr>
        <p:txBody>
          <a:bodyPr wrap="square" lIns="0" tIns="0" rIns="0" bIns="0" anchor="t">
            <a:spAutoFit/>
          </a:bodyPr>
          <a:lstStyle/>
          <a:p>
            <a:pPr algn="l"/>
            <a:r>
              <a:rPr sz="1200" b="0" i="0" u="none">
                <a:solidFill>
                  <a:srgbClr val="475569"/>
                </a:solidFill>
                <a:latin typeface="Inter"/>
              </a:rPr>
              <a:t>Đẩy việc tính toán huấn luyện nặng chạy ngầm giúp ứng dụng không bao giờ bị giật lag.</a:t>
            </a:r>
          </a:p>
        </p:txBody>
      </p:sp>
      <p:sp>
        <p:nvSpPr>
          <p:cNvPr id="13" name="TextBox 12"/>
          <p:cNvSpPr txBox="1"/>
          <p:nvPr/>
        </p:nvSpPr>
        <p:spPr>
          <a:xfrm>
            <a:off x="7414319" y="4881562"/>
            <a:ext cx="4777680" cy="228600"/>
          </a:xfrm>
          <a:prstGeom prst="rect">
            <a:avLst/>
          </a:prstGeom>
          <a:noFill/>
        </p:spPr>
        <p:txBody>
          <a:bodyPr wrap="none" lIns="314325" tIns="0" rIns="0" bIns="0" anchor="t">
            <a:spAutoFit/>
          </a:bodyPr>
          <a:lstStyle/>
          <a:p>
            <a:pPr algn="l">
              <a:lnSpc>
                <a:spcPts val="1800"/>
              </a:lnSpc>
            </a:pPr>
            <a:r>
              <a:rPr sz="1500" b="1" i="0" u="none">
                <a:solidFill>
                  <a:srgbClr val="0F172A"/>
                </a:solidFill>
                <a:latin typeface="Space Grotesk"/>
              </a:rPr>
              <a:t>Cá Nhân Hóa Thuận Tiện</a:t>
            </a:r>
          </a:p>
        </p:txBody>
      </p:sp>
      <p:sp>
        <p:nvSpPr>
          <p:cNvPr id="14" name="TextBox 13"/>
          <p:cNvSpPr txBox="1"/>
          <p:nvPr/>
        </p:nvSpPr>
        <p:spPr>
          <a:xfrm>
            <a:off x="7414319" y="5186362"/>
            <a:ext cx="4110930" cy="381000"/>
          </a:xfrm>
          <a:prstGeom prst="rect">
            <a:avLst/>
          </a:prstGeom>
          <a:noFill/>
        </p:spPr>
        <p:txBody>
          <a:bodyPr wrap="square" lIns="0" tIns="0" rIns="0" bIns="0" anchor="t">
            <a:spAutoFit/>
          </a:bodyPr>
          <a:lstStyle/>
          <a:p>
            <a:pPr algn="l"/>
            <a:r>
              <a:rPr sz="1200" b="0" i="0" u="none">
                <a:solidFill>
                  <a:srgbClr val="475569"/>
                </a:solidFill>
                <a:latin typeface="Inter"/>
              </a:rPr>
              <a:t>Giao diện có thông báo báo về màn hình ngay khi AI tìm thấy tín hiệu tốt.</a:t>
            </a:r>
          </a:p>
        </p:txBody>
      </p:sp>
      <p:pic>
        <p:nvPicPr>
          <p:cNvPr id="16" name="Picture 15">
            <a:extLst>
              <a:ext uri="{FF2B5EF4-FFF2-40B4-BE49-F238E27FC236}">
                <a16:creationId xmlns:a16="http://schemas.microsoft.com/office/drawing/2014/main" id="{763B2BF2-AEA7-BF37-EC6D-F749C8252C25}"/>
              </a:ext>
            </a:extLst>
          </p:cNvPr>
          <p:cNvPicPr>
            <a:picLocks noChangeAspect="1"/>
          </p:cNvPicPr>
          <p:nvPr/>
        </p:nvPicPr>
        <p:blipFill>
          <a:blip r:embed="rId6"/>
          <a:srcRect l="695" t="2887" r="1569" b="7491"/>
          <a:stretch>
            <a:fillRect/>
          </a:stretch>
        </p:blipFill>
        <p:spPr>
          <a:xfrm>
            <a:off x="461205" y="1207358"/>
            <a:ext cx="6347475" cy="43600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333500" y="1714500"/>
            <a:ext cx="228600" cy="228600"/>
          </a:xfrm>
          <a:prstGeom prst="rect">
            <a:avLst/>
          </a:prstGeom>
        </p:spPr>
      </p:pic>
      <p:pic>
        <p:nvPicPr>
          <p:cNvPr id="3" name="Picture 2" descr="image.png"/>
          <p:cNvPicPr>
            <a:picLocks noChangeAspect="1"/>
          </p:cNvPicPr>
          <p:nvPr/>
        </p:nvPicPr>
        <p:blipFill>
          <a:blip r:embed="rId3"/>
          <a:stretch>
            <a:fillRect/>
          </a:stretch>
        </p:blipFill>
        <p:spPr>
          <a:xfrm>
            <a:off x="6324600" y="1714500"/>
            <a:ext cx="285750" cy="228600"/>
          </a:xfrm>
          <a:prstGeom prst="rect">
            <a:avLst/>
          </a:prstGeom>
        </p:spPr>
      </p:pic>
      <p:pic>
        <p:nvPicPr>
          <p:cNvPr id="4" name="Picture 3" descr="image.png"/>
          <p:cNvPicPr>
            <a:picLocks noChangeAspect="1"/>
          </p:cNvPicPr>
          <p:nvPr/>
        </p:nvPicPr>
        <p:blipFill>
          <a:blip r:embed="rId4"/>
          <a:stretch>
            <a:fillRect/>
          </a:stretch>
        </p:blipFill>
        <p:spPr>
          <a:xfrm>
            <a:off x="1333500" y="3238500"/>
            <a:ext cx="285750" cy="228600"/>
          </a:xfrm>
          <a:prstGeom prst="rect">
            <a:avLst/>
          </a:prstGeom>
        </p:spPr>
      </p:pic>
      <p:pic>
        <p:nvPicPr>
          <p:cNvPr id="5" name="Picture 4" descr="image.png"/>
          <p:cNvPicPr>
            <a:picLocks noChangeAspect="1"/>
          </p:cNvPicPr>
          <p:nvPr/>
        </p:nvPicPr>
        <p:blipFill>
          <a:blip r:embed="rId5"/>
          <a:stretch>
            <a:fillRect/>
          </a:stretch>
        </p:blipFill>
        <p:spPr>
          <a:xfrm>
            <a:off x="6324600" y="3238500"/>
            <a:ext cx="228600" cy="228600"/>
          </a:xfrm>
          <a:prstGeom prst="rect">
            <a:avLst/>
          </a:prstGeom>
        </p:spPr>
      </p:pic>
      <p:sp>
        <p:nvSpPr>
          <p:cNvPr id="6" name="TextBox 5"/>
          <p:cNvSpPr txBox="1"/>
          <p:nvPr/>
        </p:nvSpPr>
        <p:spPr>
          <a:xfrm>
            <a:off x="-285750" y="609600"/>
            <a:ext cx="12763500" cy="457200"/>
          </a:xfrm>
          <a:prstGeom prst="rect">
            <a:avLst/>
          </a:prstGeom>
          <a:noFill/>
        </p:spPr>
        <p:txBody>
          <a:bodyPr wrap="none" lIns="0" tIns="0" rIns="0" bIns="0" anchor="t">
            <a:spAutoFit/>
          </a:bodyPr>
          <a:lstStyle/>
          <a:p>
            <a:pPr algn="ctr">
              <a:lnSpc>
                <a:spcPts val="3600"/>
              </a:lnSpc>
            </a:pPr>
            <a:r>
              <a:rPr sz="3000" b="1" i="0" u="none">
                <a:solidFill>
                  <a:srgbClr val="0F172A"/>
                </a:solidFill>
                <a:latin typeface="Space Grotesk"/>
              </a:rPr>
              <a:t>Hạn Chế Hiện Tại &amp; Thách Thức Thị Trường</a:t>
            </a:r>
          </a:p>
        </p:txBody>
      </p:sp>
      <p:sp>
        <p:nvSpPr>
          <p:cNvPr id="7" name="TextBox 6"/>
          <p:cNvSpPr txBox="1"/>
          <p:nvPr/>
        </p:nvSpPr>
        <p:spPr>
          <a:xfrm>
            <a:off x="1714500" y="1676400"/>
            <a:ext cx="5450681"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Chu Kỳ Thanh Toán T+2.5</a:t>
            </a:r>
          </a:p>
        </p:txBody>
      </p:sp>
      <p:sp>
        <p:nvSpPr>
          <p:cNvPr id="8" name="TextBox 7"/>
          <p:cNvSpPr txBox="1"/>
          <p:nvPr/>
        </p:nvSpPr>
        <p:spPr>
          <a:xfrm>
            <a:off x="1714500" y="1981200"/>
            <a:ext cx="4248150" cy="381000"/>
          </a:xfrm>
          <a:prstGeom prst="rect">
            <a:avLst/>
          </a:prstGeom>
          <a:noFill/>
        </p:spPr>
        <p:txBody>
          <a:bodyPr wrap="square" lIns="0" tIns="0" rIns="0" bIns="0" anchor="t">
            <a:spAutoFit/>
          </a:bodyPr>
          <a:lstStyle/>
          <a:p>
            <a:pPr algn="l"/>
            <a:r>
              <a:rPr sz="1200" b="0" i="0" u="none">
                <a:solidFill>
                  <a:srgbClr val="475569"/>
                </a:solidFill>
                <a:latin typeface="Inter"/>
              </a:rPr>
              <a:t>AI chưa mô phỏng hoàn hảo độ trễ 2.5 ngày chờ cổ phiếu về tài khoản thực tế ở Việt Nam.</a:t>
            </a:r>
          </a:p>
        </p:txBody>
      </p:sp>
      <p:sp>
        <p:nvSpPr>
          <p:cNvPr id="9" name="TextBox 8"/>
          <p:cNvSpPr txBox="1"/>
          <p:nvPr/>
        </p:nvSpPr>
        <p:spPr>
          <a:xfrm>
            <a:off x="6762750" y="1676400"/>
            <a:ext cx="5375671"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Trượt Giá Lệnh Lớn</a:t>
            </a:r>
          </a:p>
        </p:txBody>
      </p:sp>
      <p:sp>
        <p:nvSpPr>
          <p:cNvPr id="10" name="TextBox 9"/>
          <p:cNvSpPr txBox="1"/>
          <p:nvPr/>
        </p:nvSpPr>
        <p:spPr>
          <a:xfrm>
            <a:off x="6762750" y="1981200"/>
            <a:ext cx="4191000" cy="381000"/>
          </a:xfrm>
          <a:prstGeom prst="rect">
            <a:avLst/>
          </a:prstGeom>
          <a:noFill/>
        </p:spPr>
        <p:txBody>
          <a:bodyPr wrap="square" lIns="0" tIns="0" rIns="0" bIns="0" anchor="t">
            <a:spAutoFit/>
          </a:bodyPr>
          <a:lstStyle/>
          <a:p>
            <a:pPr algn="l"/>
            <a:r>
              <a:rPr sz="1200" b="0" i="0" u="none">
                <a:solidFill>
                  <a:srgbClr val="475569"/>
                </a:solidFill>
                <a:latin typeface="Inter"/>
              </a:rPr>
              <a:t>Lệnh mua/bán với số lượng lớn ở các mã vừa và nhỏ có thể làm trượt giá thực tế so với máy tính dự đoán.</a:t>
            </a:r>
          </a:p>
        </p:txBody>
      </p:sp>
      <p:sp>
        <p:nvSpPr>
          <p:cNvPr id="11" name="TextBox 10"/>
          <p:cNvSpPr txBox="1"/>
          <p:nvPr/>
        </p:nvSpPr>
        <p:spPr>
          <a:xfrm>
            <a:off x="1771650" y="3200400"/>
            <a:ext cx="5375671"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Trường Hợp Mất Thanh Khoản</a:t>
            </a:r>
          </a:p>
        </p:txBody>
      </p:sp>
      <p:sp>
        <p:nvSpPr>
          <p:cNvPr id="12" name="TextBox 11"/>
          <p:cNvSpPr txBox="1"/>
          <p:nvPr/>
        </p:nvSpPr>
        <p:spPr>
          <a:xfrm>
            <a:off x="1771650" y="3505200"/>
            <a:ext cx="4191000" cy="381000"/>
          </a:xfrm>
          <a:prstGeom prst="rect">
            <a:avLst/>
          </a:prstGeom>
          <a:noFill/>
        </p:spPr>
        <p:txBody>
          <a:bodyPr wrap="square" lIns="0" tIns="0" rIns="0" bIns="0" anchor="t">
            <a:spAutoFit/>
          </a:bodyPr>
          <a:lstStyle/>
          <a:p>
            <a:pPr algn="l"/>
            <a:r>
              <a:rPr sz="1200" b="0" i="0" u="none">
                <a:solidFill>
                  <a:srgbClr val="475569"/>
                </a:solidFill>
                <a:latin typeface="Inter"/>
              </a:rPr>
              <a:t>Khi thị trường hoảng loạn (trắng bên mua), lệnh cắt lỗ tự động có thể không được khớp đúng giá kỳ vọng.</a:t>
            </a:r>
          </a:p>
        </p:txBody>
      </p:sp>
      <p:sp>
        <p:nvSpPr>
          <p:cNvPr id="13" name="TextBox 12"/>
          <p:cNvSpPr txBox="1"/>
          <p:nvPr/>
        </p:nvSpPr>
        <p:spPr>
          <a:xfrm>
            <a:off x="6705600" y="3200400"/>
            <a:ext cx="5450681" cy="228600"/>
          </a:xfrm>
          <a:prstGeom prst="rect">
            <a:avLst/>
          </a:prstGeom>
          <a:noFill/>
        </p:spPr>
        <p:txBody>
          <a:bodyPr wrap="none" lIns="0" tIns="0" rIns="0" bIns="0" anchor="t">
            <a:spAutoFit/>
          </a:bodyPr>
          <a:lstStyle/>
          <a:p>
            <a:pPr algn="l">
              <a:lnSpc>
                <a:spcPts val="1800"/>
              </a:lnSpc>
            </a:pPr>
            <a:r>
              <a:rPr sz="1500" b="1" i="0" u="none">
                <a:solidFill>
                  <a:srgbClr val="0F172A"/>
                </a:solidFill>
                <a:latin typeface="Space Grotesk"/>
              </a:rPr>
              <a:t>Chi Phí Vận Hành AI</a:t>
            </a:r>
          </a:p>
        </p:txBody>
      </p:sp>
      <p:sp>
        <p:nvSpPr>
          <p:cNvPr id="14" name="TextBox 13"/>
          <p:cNvSpPr txBox="1"/>
          <p:nvPr/>
        </p:nvSpPr>
        <p:spPr>
          <a:xfrm>
            <a:off x="6705600" y="3505200"/>
            <a:ext cx="4248150" cy="381000"/>
          </a:xfrm>
          <a:prstGeom prst="rect">
            <a:avLst/>
          </a:prstGeom>
          <a:noFill/>
        </p:spPr>
        <p:txBody>
          <a:bodyPr wrap="square" lIns="0" tIns="0" rIns="0" bIns="0" anchor="t">
            <a:spAutoFit/>
          </a:bodyPr>
          <a:lstStyle/>
          <a:p>
            <a:pPr algn="l"/>
            <a:r>
              <a:rPr sz="1200" b="0" i="0" u="none">
                <a:solidFill>
                  <a:srgbClr val="475569"/>
                </a:solidFill>
                <a:latin typeface="Inter"/>
              </a:rPr>
              <a:t>Việc đọc tin liên tục qua 3 mô hình AI cho 50 mã cổ phiếu tạo áp lực lớn về chi phí thuê máy chủ.</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762000" y="4410075"/>
            <a:ext cx="10668000" cy="9334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2000" y="4410075"/>
            <a:ext cx="106680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5867400" y="1514475"/>
            <a:ext cx="457200" cy="457200"/>
          </a:xfrm>
          <a:prstGeom prst="rect">
            <a:avLst/>
          </a:prstGeom>
        </p:spPr>
      </p:pic>
      <p:sp>
        <p:nvSpPr>
          <p:cNvPr id="5" name="TextBox 4"/>
          <p:cNvSpPr txBox="1"/>
          <p:nvPr/>
        </p:nvSpPr>
        <p:spPr>
          <a:xfrm>
            <a:off x="3970734" y="2200275"/>
            <a:ext cx="4250531" cy="457200"/>
          </a:xfrm>
          <a:prstGeom prst="rect">
            <a:avLst/>
          </a:prstGeom>
          <a:noFill/>
        </p:spPr>
        <p:txBody>
          <a:bodyPr wrap="none" lIns="0" tIns="0" rIns="0" bIns="0" anchor="t">
            <a:spAutoFit/>
          </a:bodyPr>
          <a:lstStyle/>
          <a:p>
            <a:pPr algn="ctr">
              <a:lnSpc>
                <a:spcPts val="3600"/>
              </a:lnSpc>
            </a:pPr>
            <a:r>
              <a:rPr sz="3000" b="1" i="0" u="none">
                <a:solidFill>
                  <a:srgbClr val="F8FAFC"/>
                </a:solidFill>
                <a:latin typeface="Space Grotesk"/>
              </a:rPr>
              <a:t>Lưu Ý Quan Trọng</a:t>
            </a:r>
          </a:p>
        </p:txBody>
      </p:sp>
      <p:sp>
        <p:nvSpPr>
          <p:cNvPr id="6" name="TextBox 5"/>
          <p:cNvSpPr txBox="1"/>
          <p:nvPr/>
        </p:nvSpPr>
        <p:spPr>
          <a:xfrm>
            <a:off x="1333500" y="2886075"/>
            <a:ext cx="9525000" cy="914400"/>
          </a:xfrm>
          <a:prstGeom prst="rect">
            <a:avLst/>
          </a:prstGeom>
          <a:noFill/>
        </p:spPr>
        <p:txBody>
          <a:bodyPr wrap="square" lIns="0" tIns="0" rIns="0" bIns="0" anchor="t">
            <a:spAutoFit/>
          </a:bodyPr>
          <a:lstStyle/>
          <a:p>
            <a:pPr algn="ctr">
              <a:lnSpc>
                <a:spcPts val="2400"/>
              </a:lnSpc>
            </a:pPr>
            <a:r>
              <a:rPr sz="1500" b="0" i="0" u="none">
                <a:solidFill>
                  <a:srgbClr val="94A3B8"/>
                </a:solidFill>
                <a:latin typeface="Inter"/>
              </a:rPr>
              <a:t>Hệ thống này được phát triển nhằm mục đích thử nghiệm và học thuật. Không bảo đảm lợi nhuận tương lai. Tác giả không chịu trách nhiệm cho các quyết định đầu tư thực tế dựa trên ứng dụng này.</a:t>
            </a:r>
          </a:p>
        </p:txBody>
      </p:sp>
      <p:sp>
        <p:nvSpPr>
          <p:cNvPr id="7" name="TextBox 6"/>
          <p:cNvSpPr txBox="1"/>
          <p:nvPr/>
        </p:nvSpPr>
        <p:spPr>
          <a:xfrm>
            <a:off x="727471" y="4876800"/>
            <a:ext cx="3536156" cy="190500"/>
          </a:xfrm>
          <a:prstGeom prst="rect">
            <a:avLst/>
          </a:prstGeom>
          <a:noFill/>
        </p:spPr>
        <p:txBody>
          <a:bodyPr wrap="none" lIns="0" tIns="0" rIns="0" bIns="0" anchor="t">
            <a:spAutoFit/>
          </a:bodyPr>
          <a:lstStyle/>
          <a:p>
            <a:pPr algn="ctr"/>
            <a:r>
              <a:rPr sz="1200" b="1" i="0" u="none">
                <a:solidFill>
                  <a:srgbClr val="0EA5E9"/>
                </a:solidFill>
                <a:latin typeface="Inter"/>
              </a:rPr>
              <a:t>KẾ HOẠCH NÂNG CẤP</a:t>
            </a:r>
          </a:p>
        </p:txBody>
      </p:sp>
      <p:sp>
        <p:nvSpPr>
          <p:cNvPr id="8" name="TextBox 7"/>
          <p:cNvSpPr txBox="1"/>
          <p:nvPr/>
        </p:nvSpPr>
        <p:spPr>
          <a:xfrm>
            <a:off x="727471" y="5143500"/>
            <a:ext cx="3536156" cy="200025"/>
          </a:xfrm>
          <a:prstGeom prst="rect">
            <a:avLst/>
          </a:prstGeom>
          <a:noFill/>
        </p:spPr>
        <p:txBody>
          <a:bodyPr wrap="none" lIns="0" tIns="0" rIns="0" bIns="0" anchor="t">
            <a:spAutoFit/>
          </a:bodyPr>
          <a:lstStyle/>
          <a:p>
            <a:pPr algn="ctr"/>
            <a:r>
              <a:rPr sz="1350" b="0" i="0" u="none">
                <a:solidFill>
                  <a:srgbClr val="F8FAFC"/>
                </a:solidFill>
                <a:latin typeface="Inter"/>
              </a:rPr>
              <a:t>Kết nối API giao dịch thẳng lên sàn</a:t>
            </a:r>
          </a:p>
        </p:txBody>
      </p:sp>
      <p:sp>
        <p:nvSpPr>
          <p:cNvPr id="9" name="TextBox 8"/>
          <p:cNvSpPr txBox="1"/>
          <p:nvPr/>
        </p:nvSpPr>
        <p:spPr>
          <a:xfrm>
            <a:off x="4137421" y="4876800"/>
            <a:ext cx="3821906" cy="190500"/>
          </a:xfrm>
          <a:prstGeom prst="rect">
            <a:avLst/>
          </a:prstGeom>
          <a:noFill/>
        </p:spPr>
        <p:txBody>
          <a:bodyPr wrap="none" lIns="0" tIns="0" rIns="0" bIns="0" anchor="t">
            <a:spAutoFit/>
          </a:bodyPr>
          <a:lstStyle/>
          <a:p>
            <a:pPr algn="ctr"/>
            <a:r>
              <a:rPr sz="1200" b="1" i="0" u="none">
                <a:solidFill>
                  <a:srgbClr val="0EA5E9"/>
                </a:solidFill>
                <a:latin typeface="Inter"/>
              </a:rPr>
              <a:t>KẾ HOẠCH NÂNG CẤP</a:t>
            </a:r>
          </a:p>
        </p:txBody>
      </p:sp>
      <p:sp>
        <p:nvSpPr>
          <p:cNvPr id="10" name="TextBox 9"/>
          <p:cNvSpPr txBox="1"/>
          <p:nvPr/>
        </p:nvSpPr>
        <p:spPr>
          <a:xfrm>
            <a:off x="4137421" y="5143500"/>
            <a:ext cx="3821906" cy="200025"/>
          </a:xfrm>
          <a:prstGeom prst="rect">
            <a:avLst/>
          </a:prstGeom>
          <a:noFill/>
        </p:spPr>
        <p:txBody>
          <a:bodyPr wrap="none" lIns="0" tIns="0" rIns="0" bIns="0" anchor="t">
            <a:spAutoFit/>
          </a:bodyPr>
          <a:lstStyle/>
          <a:p>
            <a:pPr algn="ctr"/>
            <a:r>
              <a:rPr sz="1350" b="0" i="0" u="none">
                <a:solidFill>
                  <a:srgbClr val="F8FAFC"/>
                </a:solidFill>
                <a:latin typeface="Inter"/>
              </a:rPr>
              <a:t>Tích hợp thêm dữ liệu phân tích vĩ mô</a:t>
            </a:r>
          </a:p>
        </p:txBody>
      </p:sp>
      <p:sp>
        <p:nvSpPr>
          <p:cNvPr id="11" name="TextBox 10"/>
          <p:cNvSpPr txBox="1"/>
          <p:nvPr/>
        </p:nvSpPr>
        <p:spPr>
          <a:xfrm>
            <a:off x="7821215" y="4876800"/>
            <a:ext cx="3655218" cy="190500"/>
          </a:xfrm>
          <a:prstGeom prst="rect">
            <a:avLst/>
          </a:prstGeom>
          <a:noFill/>
        </p:spPr>
        <p:txBody>
          <a:bodyPr wrap="none" lIns="0" tIns="0" rIns="0" bIns="0" anchor="t">
            <a:spAutoFit/>
          </a:bodyPr>
          <a:lstStyle/>
          <a:p>
            <a:pPr algn="ctr"/>
            <a:r>
              <a:rPr sz="1200" b="1" i="0" u="none">
                <a:solidFill>
                  <a:srgbClr val="0EA5E9"/>
                </a:solidFill>
                <a:latin typeface="Inter"/>
              </a:rPr>
              <a:t>KẾ HOẠCH NÂNG CẤP</a:t>
            </a:r>
          </a:p>
        </p:txBody>
      </p:sp>
      <p:sp>
        <p:nvSpPr>
          <p:cNvPr id="12" name="TextBox 11"/>
          <p:cNvSpPr txBox="1"/>
          <p:nvPr/>
        </p:nvSpPr>
        <p:spPr>
          <a:xfrm>
            <a:off x="7821215" y="5143500"/>
            <a:ext cx="3655218" cy="200025"/>
          </a:xfrm>
          <a:prstGeom prst="rect">
            <a:avLst/>
          </a:prstGeom>
          <a:noFill/>
        </p:spPr>
        <p:txBody>
          <a:bodyPr wrap="none" lIns="0" tIns="0" rIns="0" bIns="0" anchor="t">
            <a:spAutoFit/>
          </a:bodyPr>
          <a:lstStyle/>
          <a:p>
            <a:pPr algn="ctr"/>
            <a:r>
              <a:rPr sz="1350" b="0" i="0" u="none">
                <a:solidFill>
                  <a:srgbClr val="F8FAFC"/>
                </a:solidFill>
                <a:latin typeface="Inter"/>
              </a:rPr>
              <a:t>Tối ưu hóa thời gian tính toán của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1202</Words>
  <Application>Microsoft Office PowerPoint</Application>
  <PresentationFormat>Widescreen</PresentationFormat>
  <Paragraphs>129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Inter</vt:lpstr>
      <vt:lpstr>Space Grotesk</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minh vuong</cp:lastModifiedBy>
  <cp:revision>2</cp:revision>
  <dcterms:created xsi:type="dcterms:W3CDTF">2013-01-27T09:14:16Z</dcterms:created>
  <dcterms:modified xsi:type="dcterms:W3CDTF">2026-09-25T18:28:45Z</dcterms:modified>
  <cp:category/>
</cp:coreProperties>
</file>